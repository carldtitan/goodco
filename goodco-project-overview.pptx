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097280" cy="292608"/>
          </a:xfrm>
          <a:prstGeom prst="roundRect">
            <a:avLst/>
          </a:prstGeom>
          <a:solidFill>
            <a:srgbClr val="E8F3EE"/>
          </a:solidFill>
          <a:ln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05B52"/>
                </a:solidFill>
                <a:latin typeface="Aptos"/>
              </a:rPr>
              <a:t>GOODCO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85953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One platform for pantry inventory and lateral food movement.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93392"/>
            <a:ext cx="7498079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CBDEDA"/>
                </a:solidFill>
                <a:latin typeface="Aptos"/>
              </a:rPr>
              <a:t>Hub-and-spoke food networks need the hub. But efficiency improves when spokes can also see and move eligible surplus between each other.</a:t>
            </a:r>
          </a:p>
        </p:txBody>
      </p:sp>
      <p:sp>
        <p:nvSpPr>
          <p:cNvPr id="5" name="Oval 4"/>
          <p:cNvSpPr/>
          <p:nvPr/>
        </p:nvSpPr>
        <p:spPr>
          <a:xfrm>
            <a:off x="8138160" y="1051560"/>
            <a:ext cx="1005840" cy="1005840"/>
          </a:xfrm>
          <a:prstGeom prst="ellipse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Hub</a:t>
            </a:r>
          </a:p>
        </p:txBody>
      </p:sp>
      <p:sp>
        <p:nvSpPr>
          <p:cNvPr id="6" name="Oval 5"/>
          <p:cNvSpPr/>
          <p:nvPr/>
        </p:nvSpPr>
        <p:spPr>
          <a:xfrm>
            <a:off x="6766560" y="3063240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0F2227"/>
                </a:solidFill>
                <a:latin typeface="Aptos"/>
              </a:rPr>
              <a:t>SF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7059168" y="1947672"/>
            <a:ext cx="1581912" cy="1115568"/>
          </a:xfrm>
          <a:prstGeom prst="line">
            <a:avLst/>
          </a:prstGeom>
          <a:ln w="12700">
            <a:solidFill>
              <a:srgbClr val="496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0" y="4480560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0F2227"/>
                </a:solidFill>
                <a:latin typeface="Aptos"/>
              </a:rPr>
              <a:t>Oak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1947672"/>
            <a:ext cx="64008" cy="2532888"/>
          </a:xfrm>
          <a:prstGeom prst="line">
            <a:avLst/>
          </a:prstGeom>
          <a:ln w="12700">
            <a:solidFill>
              <a:srgbClr val="496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012680" y="3154680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0F2227"/>
                </a:solidFill>
                <a:latin typeface="Aptos"/>
              </a:rPr>
              <a:t>SJ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1947672"/>
            <a:ext cx="1664208" cy="1207008"/>
          </a:xfrm>
          <a:prstGeom prst="line">
            <a:avLst/>
          </a:prstGeom>
          <a:ln w="12700">
            <a:solidFill>
              <a:srgbClr val="496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287000" y="4892040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0F2227"/>
                </a:solidFill>
                <a:latin typeface="Aptos"/>
              </a:rPr>
              <a:t>Marin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1947672"/>
            <a:ext cx="1938528" cy="2944368"/>
          </a:xfrm>
          <a:prstGeom prst="line">
            <a:avLst/>
          </a:prstGeom>
          <a:ln w="12700">
            <a:solidFill>
              <a:srgbClr val="496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92240" y="4800600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0F2227"/>
                </a:solidFill>
                <a:latin typeface="Aptos"/>
              </a:rPr>
              <a:t>East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784848" y="1947672"/>
            <a:ext cx="1856232" cy="2852928"/>
          </a:xfrm>
          <a:prstGeom prst="line">
            <a:avLst/>
          </a:prstGeom>
          <a:ln w="12700">
            <a:solidFill>
              <a:srgbClr val="496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9168" y="3355848"/>
            <a:ext cx="2953512" cy="100584"/>
          </a:xfrm>
          <a:prstGeom prst="line">
            <a:avLst/>
          </a:prstGeom>
          <a:ln w="38100">
            <a:solidFill>
              <a:srgbClr val="F6B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93992" y="4773168"/>
            <a:ext cx="1618488" cy="301752"/>
          </a:xfrm>
          <a:prstGeom prst="line">
            <a:avLst/>
          </a:prstGeom>
          <a:ln w="38100">
            <a:solidFill>
              <a:srgbClr val="F6B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97696" y="4736592"/>
            <a:ext cx="1289304" cy="402336"/>
          </a:xfrm>
          <a:prstGeom prst="line">
            <a:avLst/>
          </a:prstGeom>
          <a:ln w="38100">
            <a:solidFill>
              <a:srgbClr val="F6B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" y="41605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169163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F6B74A"/>
                </a:solidFill>
                <a:latin typeface="Aptos"/>
              </a:rPr>
              <a:t>60k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3"/>
            <a:ext cx="1673351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U.S. pantry/meal-program network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07792" y="41605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2384" y="4288536"/>
            <a:ext cx="169163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F6B74A"/>
                </a:solidFill>
                <a:latin typeface="Aptos"/>
              </a:rPr>
              <a:t>350+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384" y="4672583"/>
            <a:ext cx="1673351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ACCFB Alameda partner agencies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5776" y="41605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4288536"/>
            <a:ext cx="169163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F6B74A"/>
                </a:solidFill>
                <a:latin typeface="Aptos"/>
              </a:rPr>
              <a:t>900+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672583"/>
            <a:ext cx="1673351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Second Harvest SV distribution sites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715000"/>
            <a:ext cx="786384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Thesis: lateral visibility turns isolated spokes into a coordinated mesh.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7395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660" b="0">
                <a:solidFill>
                  <a:srgbClr val="5C6C72"/>
                </a:solidFill>
                <a:latin typeface="Aptos"/>
              </a:rPr>
              <a:t>Sources: Feeding America, ACCFB, Second Harvest Silicon Valley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50" b="0">
                <a:solidFill>
                  <a:srgbClr val="5C6C72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20624"/>
            <a:ext cx="1371600" cy="292608"/>
          </a:xfrm>
          <a:prstGeom prst="roundRect">
            <a:avLst/>
          </a:prstGeom>
          <a:solidFill>
            <a:srgbClr val="E8F3EE"/>
          </a:solidFill>
          <a:ln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05B52"/>
                </a:solidFill>
                <a:latin typeface="Aptos"/>
              </a:rPr>
              <a:t>PROBLEM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96012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500" b="1">
                <a:solidFill>
                  <a:srgbClr val="121F23"/>
                </a:solidFill>
                <a:latin typeface="Aptos"/>
              </a:rPr>
              <a:t>Which of the 35 problems are we addressing?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692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50" b="0">
                <a:solidFill>
                  <a:srgbClr val="5C6C72"/>
                </a:solidFill>
                <a:latin typeface="Aptos"/>
              </a:rPr>
              <a:t>Primary fit is the movement problem; inventory intelligence is the required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20240"/>
            <a:ext cx="52303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00897B"/>
                </a:solidFill>
                <a:latin typeface="Aptos"/>
              </a:rPr>
              <a:t>Primary: Theme 7, Problem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121F23"/>
                </a:solidFill>
                <a:latin typeface="Aptos"/>
              </a:rPr>
              <a:t>Problem 34: Match one food bank's surplus to another's shortage before product ages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01568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GoodCo applies this at the pantry/spoke layer.</a:t>
            </a:r>
          </a:p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A pantry publishes real eligible surplus.</a:t>
            </a:r>
          </a:p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Another pantry requests it before it expires or sits idle.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920240"/>
            <a:ext cx="52303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12848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00897B"/>
                </a:solidFill>
                <a:latin typeface="Aptos"/>
              </a:rPr>
              <a:t>Supporting: Theme 2, Problems 6, 9,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24912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6: scanner/receiving creates the trusted lot</a:t>
            </a:r>
          </a:p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9: date and shelf-life capture at receiving</a:t>
            </a:r>
          </a:p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10: expiring view warns what must move</a:t>
            </a:r>
          </a:p>
          <a:p>
            <a:pPr>
              <a:spcAft>
                <a:spcPts val="500"/>
              </a:spcAft>
              <a:defRPr sz="1150">
                <a:solidFill>
                  <a:srgbClr val="121F23"/>
                </a:solidFill>
                <a:latin typeface="Aptos"/>
              </a:defRPr>
            </a:pPr>
            <a:r>
              <a:t>These make the marketplace safe enough to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79008"/>
            <a:ext cx="9966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121F23"/>
                </a:solidFill>
                <a:latin typeface="Aptos"/>
              </a:rPr>
              <a:t>We are not trying to solve all 35. We solve one movement problem deeply, with the minimum inventory layer needed to make it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660" b="0">
                <a:solidFill>
                  <a:srgbClr val="5C6C72"/>
                </a:solidFill>
                <a:latin typeface="Aptos"/>
              </a:rPr>
              <a:t>Track mapping from local hackathon research: Theme 7 Problem 34; Theme 2 Problems 6, 9, 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50" b="0">
                <a:solidFill>
                  <a:srgbClr val="5C6C72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20624"/>
            <a:ext cx="1371600" cy="292608"/>
          </a:xfrm>
          <a:prstGeom prst="roundRect">
            <a:avLst/>
          </a:prstGeom>
          <a:solidFill>
            <a:srgbClr val="E8F3EE"/>
          </a:solidFill>
          <a:ln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05B52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96012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500" b="1">
                <a:solidFill>
                  <a:srgbClr val="121F23"/>
                </a:solidFill>
                <a:latin typeface="Aptos"/>
              </a:rPr>
              <a:t>What GoodCo actually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692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50" b="0">
                <a:solidFill>
                  <a:srgbClr val="5C6C72"/>
                </a:solidFill>
                <a:latin typeface="Aptos"/>
              </a:rPr>
              <a:t>It is not a generic marketplace. Listings must come from confirmed inventory 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15361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31343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20" b="1">
                <a:solidFill>
                  <a:srgbClr val="121F23"/>
                </a:solidFill>
                <a:latin typeface="Aptos"/>
              </a:rPr>
              <a:t>Receive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50" b="0">
                <a:solidFill>
                  <a:srgbClr val="5C6C72"/>
                </a:solidFill>
                <a:latin typeface="Aptos"/>
              </a:rPr>
              <a:t>scan / manual / photo / voice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2848" y="2688336"/>
            <a:ext cx="301752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32887" y="2148840"/>
            <a:ext cx="15361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1" y="231343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2286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20" b="1">
                <a:solidFill>
                  <a:srgbClr val="121F23"/>
                </a:solidFill>
                <a:latin typeface="Aptos"/>
              </a:rP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6974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50" b="0">
                <a:solidFill>
                  <a:srgbClr val="5C6C72"/>
                </a:solidFill>
                <a:latin typeface="Aptos"/>
              </a:rPr>
              <a:t>category + date +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87368" y="2688336"/>
            <a:ext cx="301751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07407" y="2148840"/>
            <a:ext cx="15361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31343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2286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20" b="1">
                <a:solidFill>
                  <a:srgbClr val="121F23"/>
                </a:solidFill>
                <a:latin typeface="Aptos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6974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50" b="0">
                <a:solidFill>
                  <a:srgbClr val="5C6C72"/>
                </a:solidFill>
                <a:latin typeface="Aptos"/>
              </a:rPr>
              <a:t>eligible lot only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2688336"/>
            <a:ext cx="301752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1927" y="2148840"/>
            <a:ext cx="15361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31343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286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20" b="1">
                <a:solidFill>
                  <a:srgbClr val="121F23"/>
                </a:solidFill>
                <a:latin typeface="Aptos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26974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50" b="0">
                <a:solidFill>
                  <a:srgbClr val="5C6C72"/>
                </a:solidFill>
                <a:latin typeface="Aptos"/>
              </a:rPr>
              <a:t>another pantry claims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6407" y="2688336"/>
            <a:ext cx="301752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56448" y="2148840"/>
            <a:ext cx="15361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31343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286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20" b="1">
                <a:solidFill>
                  <a:srgbClr val="121F23"/>
                </a:solidFill>
                <a:latin typeface="Aptos"/>
              </a:rPr>
              <a:t>Reserve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974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50" b="0">
                <a:solidFill>
                  <a:srgbClr val="5C6C72"/>
                </a:solidFill>
                <a:latin typeface="Aptos"/>
              </a:rPr>
              <a:t>available qty drops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10928" y="2688336"/>
            <a:ext cx="301752" cy="0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30968" y="2148840"/>
            <a:ext cx="15361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7272" y="231343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2286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20" b="1">
                <a:solidFill>
                  <a:srgbClr val="121F23"/>
                </a:solidFill>
                <a:latin typeface="Aptos"/>
              </a:rPr>
              <a:t>Transfer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974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50" b="0">
                <a:solidFill>
                  <a:srgbClr val="5C6C72"/>
                </a:solidFill>
                <a:latin typeface="Aptos"/>
              </a:rPr>
              <a:t>traceable handoff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977639"/>
            <a:ext cx="4343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" y="422452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00897B"/>
                </a:solidFill>
                <a:latin typeface="Aptos"/>
              </a:rPr>
              <a:t>Trust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572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confirmed lot</a:t>
            </a:r>
          </a:p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redistribution allowed</a:t>
            </a:r>
          </a:p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TEFAP blocked by default</a:t>
            </a:r>
          </a:p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payment disabled in MVP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3977639"/>
            <a:ext cx="4343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422452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00897B"/>
                </a:solidFill>
                <a:latin typeface="Aptos"/>
              </a:rPr>
              <a:t>AI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572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barcode lookup first</a:t>
            </a:r>
          </a:p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OCR/voice for dates</a:t>
            </a:r>
          </a:p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LLM only fallback</a:t>
            </a:r>
          </a:p>
          <a:p>
            <a:pPr>
              <a:spcAft>
                <a:spcPts val="500"/>
              </a:spcAft>
              <a:defRPr sz="1019">
                <a:solidFill>
                  <a:srgbClr val="121F23"/>
                </a:solidFill>
                <a:latin typeface="Aptos"/>
              </a:defRPr>
            </a:pPr>
            <a:r>
              <a:t>human confirmation before save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5559552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44751" y="568756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25638C"/>
                </a:solidFill>
                <a:latin typeface="Aptos"/>
              </a:rPr>
              <a:t>149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1" y="6071616"/>
            <a:ext cx="153619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live inventory lots in demo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7560" y="5559552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02152" y="568756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25638C"/>
                </a:solidFill>
                <a:latin typeface="Aptos"/>
              </a:rPr>
              <a:t>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2152" y="6071616"/>
            <a:ext cx="153619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active listings in demo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94960" y="5559552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9552" y="568756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25638C"/>
                </a:solidFill>
                <a:latin typeface="Aptos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9552" y="6071616"/>
            <a:ext cx="153619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pantry profiles in demo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52360" y="5559552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16952" y="568756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25638C"/>
                </a:solidFill>
                <a:latin typeface="Aptos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6071616"/>
            <a:ext cx="153619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payments required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47395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660" b="0">
                <a:solidFill>
                  <a:srgbClr val="5C6C72"/>
                </a:solidFill>
                <a:latin typeface="Aptos"/>
              </a:rPr>
              <a:t>Live demo counts queried from Supabase on July 17, 2026.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73952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50" b="0">
                <a:solidFill>
                  <a:srgbClr val="5C6C72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20624"/>
            <a:ext cx="1371600" cy="292608"/>
          </a:xfrm>
          <a:prstGeom prst="roundRect">
            <a:avLst/>
          </a:prstGeom>
          <a:solidFill>
            <a:srgbClr val="E8F3EE"/>
          </a:solidFill>
          <a:ln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05B52"/>
                </a:solidFill>
                <a:latin typeface="Aptos"/>
              </a:rPr>
              <a:t>IMPACT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96012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500" b="1">
                <a:solidFill>
                  <a:srgbClr val="121F23"/>
                </a:solidFill>
                <a:latin typeface="Aptos"/>
              </a:rPr>
              <a:t>Why this should improve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692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50" b="0">
                <a:solidFill>
                  <a:srgbClr val="5C6C72"/>
                </a:solidFill>
                <a:latin typeface="Aptos"/>
              </a:rPr>
              <a:t>The claim is not AI fixes food banks. The claim is inventory sharing reduces mismatch when supply and demand differ across spokes.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1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B24141"/>
                </a:solidFill>
                <a:latin typeface="Aptos"/>
              </a:rPr>
              <a:t>Without GoodCo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surplus visible only locally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shortage solved through calls/texts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hub remains the default coordinator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perishable items lose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84831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00897B"/>
                </a:solidFill>
                <a:latin typeface="Aptos"/>
              </a:rPr>
              <a:t>With GoodCo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523744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eligible surplus visible to network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requests reserve quantity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transfers leave audit trail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hub can focus on bulk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2084831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25638C"/>
                </a:solidFill>
                <a:latin typeface="Aptos"/>
              </a:rPr>
              <a:t>Pilot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523744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lots moved before move-by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requests fulfilled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expired lots avoided</a:t>
            </a:r>
          </a:p>
          <a:p>
            <a:pPr>
              <a:spcAft>
                <a:spcPts val="500"/>
              </a:spcAft>
              <a:defRPr sz="1080">
                <a:solidFill>
                  <a:srgbClr val="121F23"/>
                </a:solidFill>
                <a:latin typeface="Aptos"/>
              </a:defRPr>
            </a:pPr>
            <a:r>
              <a:t>hub interventions avoided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121F23"/>
                </a:solidFill>
                <a:latin typeface="Aptos"/>
              </a:rPr>
              <a:t>Evidence base: operations research on inventory sharing/lateral transshipment finds that sharing stock across same-level nodes can reduce holding, shipping, and waiting costs. We still need a pantry pilot to quantify GoodCo's exact effect.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5687568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5815583"/>
            <a:ext cx="1874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B24141"/>
                </a:solidFill>
                <a:latin typeface="Aptos"/>
              </a:rPr>
              <a:t>30-40%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6199631"/>
            <a:ext cx="185623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U.S. food supply estimated wasted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5687568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5815583"/>
            <a:ext cx="2057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25638C"/>
                </a:solidFill>
                <a:latin typeface="Aptos"/>
              </a:rPr>
              <a:t>10-25%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6199631"/>
            <a:ext cx="203911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cost reduction in one MIT lateral-transshipment study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5687568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5815583"/>
            <a:ext cx="1874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00897B"/>
                </a:solidFill>
                <a:latin typeface="Aptos"/>
              </a:rPr>
              <a:t>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6199631"/>
            <a:ext cx="185623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19" b="0">
                <a:solidFill>
                  <a:srgbClr val="5C6C72"/>
                </a:solidFill>
                <a:latin typeface="Aptos"/>
              </a:rPr>
              <a:t>needed before claiming real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660" b="0">
                <a:solidFill>
                  <a:srgbClr val="5C6C72"/>
                </a:solidFill>
                <a:latin typeface="Aptos"/>
              </a:rPr>
              <a:t>Sources: USDA food waste FAQ; lateral-transshipment / inventory-sharing literature. GoodCo impact is not yet pilot-measured.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50" b="0">
                <a:solidFill>
                  <a:srgbClr val="5C6C72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20624"/>
            <a:ext cx="1371600" cy="292608"/>
          </a:xfrm>
          <a:prstGeom prst="roundRect">
            <a:avLst/>
          </a:prstGeom>
          <a:solidFill>
            <a:srgbClr val="E8F3EE"/>
          </a:solidFill>
          <a:ln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05B52"/>
                </a:solidFill>
                <a:latin typeface="Aptos"/>
              </a:rPr>
              <a:t>COUNTERARGUMENTS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96012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500" b="1">
                <a:solidFill>
                  <a:srgbClr val="121F23"/>
                </a:solidFill>
                <a:latin typeface="Aptos"/>
              </a:rPr>
              <a:t>What judges may challenge, and the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692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50" b="0">
                <a:solidFill>
                  <a:srgbClr val="5C6C72"/>
                </a:solidFill>
                <a:latin typeface="Aptos"/>
              </a:rPr>
              <a:t>Address these before they become objections.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50" b="1">
                <a:solidFill>
                  <a:srgbClr val="5C6C72"/>
                </a:solidFill>
                <a:latin typeface="Aptos"/>
              </a:rPr>
              <a:t>Objection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874519"/>
            <a:ext cx="4206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50" b="1">
                <a:solidFill>
                  <a:srgbClr val="5C6C72"/>
                </a:solidFill>
                <a:latin typeface="Aptos"/>
              </a:rPr>
              <a:t>Why it is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874519"/>
            <a:ext cx="4297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50" b="1">
                <a:solidFill>
                  <a:srgbClr val="5C6C72"/>
                </a:solidFill>
                <a:latin typeface="Aptos"/>
              </a:rPr>
              <a:t>GoodCo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12848"/>
            <a:ext cx="106527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50008"/>
            <a:ext cx="203911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B24141"/>
                </a:solidFill>
                <a:latin typeface="Aptos"/>
              </a:rPr>
              <a:t>Is this just a marketplace?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350008"/>
            <a:ext cx="4096511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0">
                <a:solidFill>
                  <a:srgbClr val="121F23"/>
                </a:solidFill>
                <a:latin typeface="Aptos"/>
              </a:rPr>
              <a:t>A marketplace with fake or stale food would be useless.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1" y="2350008"/>
            <a:ext cx="41879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00897B"/>
                </a:solidFill>
                <a:latin typeface="Aptos"/>
              </a:rPr>
              <a:t>Listings must come from confirmed inventory lots; no synthetic surplus.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26080"/>
            <a:ext cx="106527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63240"/>
            <a:ext cx="203911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B24141"/>
                </a:solidFill>
                <a:latin typeface="Aptos"/>
              </a:rPr>
              <a:t>Will pantries enter data?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063240"/>
            <a:ext cx="4096511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0">
                <a:solidFill>
                  <a:srgbClr val="121F23"/>
                </a:solidFill>
                <a:latin typeface="Aptos"/>
              </a:rPr>
              <a:t>Adoption is the biggest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1" y="3063240"/>
            <a:ext cx="41879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00897B"/>
                </a:solidFill>
                <a:latin typeface="Aptos"/>
              </a:rPr>
              <a:t>Receiving is kept short; publish can happen from existing inventory.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39312"/>
            <a:ext cx="106527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776472"/>
            <a:ext cx="203911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B24141"/>
                </a:solidFill>
                <a:latin typeface="Aptos"/>
              </a:rPr>
              <a:t>What about restricted food?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776472"/>
            <a:ext cx="4096511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0">
                <a:solidFill>
                  <a:srgbClr val="121F23"/>
                </a:solidFill>
                <a:latin typeface="Aptos"/>
              </a:rPr>
              <a:t>Food assistance has policy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1" y="3776472"/>
            <a:ext cx="41879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00897B"/>
                </a:solidFill>
                <a:latin typeface="Aptos"/>
              </a:rPr>
              <a:t>TEFAP blocked by default; redistributable flag required; no payments.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52544"/>
            <a:ext cx="106527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489704"/>
            <a:ext cx="203911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B24141"/>
                </a:solidFill>
                <a:latin typeface="Aptos"/>
              </a:rPr>
              <a:t>Can AI hallucinate inventory?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489704"/>
            <a:ext cx="4096511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0">
                <a:solidFill>
                  <a:srgbClr val="121F23"/>
                </a:solidFill>
                <a:latin typeface="Aptos"/>
              </a:rPr>
              <a:t>Yes, if allowed to write directly.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1" y="4489704"/>
            <a:ext cx="41879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00897B"/>
                </a:solidFill>
                <a:latin typeface="Aptos"/>
              </a:rPr>
              <a:t>AI only drafts category/date; humans confirm before save.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65776"/>
            <a:ext cx="106527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202936"/>
            <a:ext cx="203911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B24141"/>
                </a:solidFill>
                <a:latin typeface="Aptos"/>
              </a:rPr>
              <a:t>Does listing reduce stock?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5202936"/>
            <a:ext cx="4096511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0">
                <a:solidFill>
                  <a:srgbClr val="121F23"/>
                </a:solidFill>
                <a:latin typeface="Aptos"/>
              </a:rPr>
              <a:t>It should not. Listing is not a claim.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1" y="5202936"/>
            <a:ext cx="41879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80" b="1">
                <a:solidFill>
                  <a:srgbClr val="00897B"/>
                </a:solidFill>
                <a:latin typeface="Aptos"/>
              </a:rPr>
              <a:t>On-hand stays same; reserve lowers availability; transfer decrements stock.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16752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121F23"/>
                </a:solidFill>
                <a:latin typeface="Aptos"/>
              </a:rPr>
              <a:t>Bottom line: GoodCo does not replace the hub. It makes every spoke visible enough to share resources safely.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50" b="0">
                <a:solidFill>
                  <a:srgbClr val="5C6C72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