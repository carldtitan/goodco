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502920"/>
            <a:ext cx="1115568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05A52"/>
                </a:solidFill>
                <a:latin typeface="Aptos"/>
              </a:rPr>
              <a:t>GOODCO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24128"/>
            <a:ext cx="6309360" cy="8686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3100" b="1">
                <a:solidFill>
                  <a:srgbClr val="FFFFFF"/>
                </a:solidFill>
                <a:latin typeface="Aptos"/>
              </a:rPr>
              <a:t>Pantries cannot rebalance food they cannot see.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84248"/>
            <a:ext cx="6080760" cy="5303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420" b="0">
                <a:solidFill>
                  <a:srgbClr val="CADEDA"/>
                </a:solidFill>
                <a:latin typeface="Aptos"/>
              </a:rPr>
              <a:t>Food banks are strong hubs. The weak point is the last-mile network: pantry inventory, surplus, and urgency usually stay local.</a:t>
            </a:r>
          </a:p>
        </p:txBody>
      </p:sp>
      <p:sp>
        <p:nvSpPr>
          <p:cNvPr id="5" name="Oval 4"/>
          <p:cNvSpPr/>
          <p:nvPr/>
        </p:nvSpPr>
        <p:spPr>
          <a:xfrm>
            <a:off x="8823960" y="1143000"/>
            <a:ext cx="960120" cy="960120"/>
          </a:xfrm>
          <a:prstGeom prst="ellipse">
            <a:avLst/>
          </a:prstGeom>
          <a:solidFill>
            <a:srgbClr val="00897B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Hub</a:t>
            </a:r>
          </a:p>
        </p:txBody>
      </p:sp>
      <p:sp>
        <p:nvSpPr>
          <p:cNvPr id="6" name="Oval 5"/>
          <p:cNvSpPr/>
          <p:nvPr/>
        </p:nvSpPr>
        <p:spPr>
          <a:xfrm>
            <a:off x="7452360" y="2880360"/>
            <a:ext cx="603504" cy="603504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D2226"/>
                </a:solidFill>
                <a:latin typeface="Aptos"/>
              </a:rPr>
              <a:t>SF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7754112" y="2075688"/>
            <a:ext cx="1554480" cy="804672"/>
          </a:xfrm>
          <a:prstGeom prst="line">
            <a:avLst/>
          </a:prstGeom>
          <a:ln w="12700">
            <a:solidFill>
              <a:srgbClr val="5876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012680" y="2880360"/>
            <a:ext cx="603504" cy="603504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D2226"/>
                </a:solidFill>
                <a:latin typeface="Aptos"/>
              </a:rPr>
              <a:t>Oak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308592" y="2075688"/>
            <a:ext cx="1005840" cy="804672"/>
          </a:xfrm>
          <a:prstGeom prst="line">
            <a:avLst/>
          </a:prstGeom>
          <a:ln w="12700">
            <a:solidFill>
              <a:srgbClr val="5876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7726679" y="4645152"/>
            <a:ext cx="603504" cy="603504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D2226"/>
                </a:solidFill>
                <a:latin typeface="Aptos"/>
              </a:rPr>
              <a:t>Marin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8028431" y="2075688"/>
            <a:ext cx="1280161" cy="2569464"/>
          </a:xfrm>
          <a:prstGeom prst="line">
            <a:avLst/>
          </a:prstGeom>
          <a:ln w="12700">
            <a:solidFill>
              <a:srgbClr val="5876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0287000" y="4645152"/>
            <a:ext cx="603504" cy="603504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D2226"/>
                </a:solidFill>
                <a:latin typeface="Aptos"/>
              </a:rPr>
              <a:t>SJ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08592" y="2075688"/>
            <a:ext cx="1280160" cy="2569464"/>
          </a:xfrm>
          <a:prstGeom prst="line">
            <a:avLst/>
          </a:prstGeom>
          <a:ln w="12700">
            <a:solidFill>
              <a:srgbClr val="5876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055864" y="3182112"/>
            <a:ext cx="1956816" cy="0"/>
          </a:xfrm>
          <a:prstGeom prst="line">
            <a:avLst/>
          </a:prstGeom>
          <a:ln w="40640">
            <a:solidFill>
              <a:srgbClr val="F4B1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028431" y="4956048"/>
            <a:ext cx="2258569" cy="0"/>
          </a:xfrm>
          <a:prstGeom prst="line">
            <a:avLst/>
          </a:prstGeom>
          <a:ln w="40640">
            <a:solidFill>
              <a:srgbClr val="F4B1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744968" y="3483864"/>
            <a:ext cx="283463" cy="1161288"/>
          </a:xfrm>
          <a:prstGeom prst="line">
            <a:avLst/>
          </a:prstGeom>
          <a:ln w="30480">
            <a:solidFill>
              <a:srgbClr val="F4B1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13232" y="4041648"/>
            <a:ext cx="2057400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4169663"/>
            <a:ext cx="1764792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200" b="1">
                <a:solidFill>
                  <a:srgbClr val="F4B146"/>
                </a:solidFill>
                <a:latin typeface="Aptos"/>
              </a:rPr>
              <a:t>60k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4553712"/>
            <a:ext cx="1746504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840" b="0">
                <a:solidFill>
                  <a:srgbClr val="58696F"/>
                </a:solidFill>
                <a:latin typeface="Aptos"/>
              </a:rPr>
              <a:t>U.S. pantry and meal-program network scale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44368" y="4041648"/>
            <a:ext cx="2057400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8960" y="4169663"/>
            <a:ext cx="1764792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200" b="1">
                <a:solidFill>
                  <a:srgbClr val="F4B146"/>
                </a:solidFill>
                <a:latin typeface="Aptos"/>
              </a:rPr>
              <a:t>350+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4553712"/>
            <a:ext cx="1746504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840" b="0">
                <a:solidFill>
                  <a:srgbClr val="58696F"/>
                </a:solidFill>
                <a:latin typeface="Aptos"/>
              </a:rPr>
              <a:t>Alameda County partner agencies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75504" y="4041648"/>
            <a:ext cx="2057400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40096" y="4169663"/>
            <a:ext cx="1764792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200" b="1">
                <a:solidFill>
                  <a:srgbClr val="F4B146"/>
                </a:solidFill>
                <a:latin typeface="Aptos"/>
              </a:rPr>
              <a:t>900+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0096" y="4553712"/>
            <a:ext cx="1746504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840" b="0">
                <a:solidFill>
                  <a:srgbClr val="58696F"/>
                </a:solidFill>
                <a:latin typeface="Aptos"/>
              </a:rPr>
              <a:t>Second Harvest SV distribution sites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5669280"/>
            <a:ext cx="7498079" cy="31089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550" b="1">
                <a:solidFill>
                  <a:srgbClr val="FFFFFF"/>
                </a:solidFill>
                <a:latin typeface="Aptos"/>
              </a:rPr>
              <a:t>GoodCo adds the missing lateral layer: inventory visibility plus governed pantry-to-pantry movement.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73952"/>
            <a:ext cx="8778240" cy="1645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650" b="0">
                <a:solidFill>
                  <a:srgbClr val="58696F"/>
                </a:solidFill>
                <a:latin typeface="Aptos"/>
              </a:rPr>
              <a:t>Sources: Feeding America, Alameda County Community Food Bank, Second Harvest Silicon Valley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27080" y="6473952"/>
            <a:ext cx="658368" cy="1645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750" b="0">
                <a:solidFill>
                  <a:srgbClr val="58696F"/>
                </a:solidFill>
                <a:latin typeface="Aptos"/>
              </a:rPr>
              <a:t>01 / 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438912"/>
            <a:ext cx="1417320" cy="310896"/>
          </a:xfrm>
          <a:prstGeom prst="roundRect">
            <a:avLst/>
          </a:prstGeom>
          <a:solidFill>
            <a:srgbClr val="E5F3EE"/>
          </a:solidFill>
          <a:ln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05A52"/>
                </a:solidFill>
                <a:latin typeface="Aptos"/>
              </a:rPr>
              <a:t>TRACK FIT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96112"/>
            <a:ext cx="905256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800" b="1">
                <a:solidFill>
                  <a:srgbClr val="121F23"/>
                </a:solidFill>
                <a:latin typeface="Aptos"/>
              </a:rPr>
              <a:t>We are solving one movement problem deeply.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81912"/>
            <a:ext cx="8686800" cy="4023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20" b="0">
                <a:solidFill>
                  <a:srgbClr val="58696F"/>
                </a:solidFill>
                <a:latin typeface="Aptos"/>
              </a:rPr>
              <a:t>Inventory is the trust layer that makes pantry-to-pantry movement safe enough to use.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2064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231136"/>
            <a:ext cx="43891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400" b="1">
                <a:solidFill>
                  <a:srgbClr val="00897B"/>
                </a:solidFill>
                <a:latin typeface="Aptos"/>
              </a:rPr>
              <a:t>Primary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33472"/>
            <a:ext cx="438912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100" b="1">
                <a:solidFill>
                  <a:srgbClr val="121F23"/>
                </a:solidFill>
                <a:latin typeface="Aptos"/>
              </a:rPr>
              <a:t>Theme 7, Problem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3090672"/>
            <a:ext cx="425196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500" b="1">
                <a:solidFill>
                  <a:srgbClr val="121F23"/>
                </a:solidFill>
                <a:latin typeface="Aptos"/>
              </a:rPr>
              <a:t>Match surplus to shortage before product ages out.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675887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70">
                <a:solidFill>
                  <a:srgbClr val="121F23"/>
                </a:solidFill>
                <a:latin typeface="Aptos"/>
              </a:defRPr>
            </a:pPr>
            <a:r>
              <a:t>GoodCo solves this at the pantry level.</a:t>
            </a:r>
          </a:p>
          <a:p>
            <a:pPr>
              <a:spcAft>
                <a:spcPts val="600"/>
              </a:spcAft>
              <a:defRPr sz="1170">
                <a:solidFill>
                  <a:srgbClr val="121F23"/>
                </a:solidFill>
                <a:latin typeface="Aptos"/>
              </a:defRPr>
            </a:pPr>
            <a:r>
              <a:t>Pantries publish eligible surplus.</a:t>
            </a:r>
          </a:p>
          <a:p>
            <a:pPr>
              <a:spcAft>
                <a:spcPts val="600"/>
              </a:spcAft>
              <a:defRPr sz="1170">
                <a:solidFill>
                  <a:srgbClr val="121F23"/>
                </a:solidFill>
                <a:latin typeface="Aptos"/>
              </a:defRPr>
            </a:pPr>
            <a:r>
              <a:t>Other pantries request it before it expires or sits idle.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965960"/>
            <a:ext cx="512064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231136"/>
            <a:ext cx="43891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400" b="1">
                <a:solidFill>
                  <a:srgbClr val="00897B"/>
                </a:solidFill>
                <a:latin typeface="Aptos"/>
              </a:rPr>
              <a:t>Enabling foundation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633472"/>
            <a:ext cx="438912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100" b="1">
                <a:solidFill>
                  <a:srgbClr val="121F23"/>
                </a:solidFill>
                <a:latin typeface="Aptos"/>
              </a:rPr>
              <a:t>Theme 2, Problems 6, 9,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136392"/>
            <a:ext cx="416052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70">
                <a:solidFill>
                  <a:srgbClr val="121F23"/>
                </a:solidFill>
                <a:latin typeface="Aptos"/>
              </a:defRPr>
            </a:pPr>
            <a:r>
              <a:t>Receiving creates the trusted lot.</a:t>
            </a:r>
          </a:p>
          <a:p>
            <a:pPr>
              <a:spcAft>
                <a:spcPts val="600"/>
              </a:spcAft>
              <a:defRPr sz="1170">
                <a:solidFill>
                  <a:srgbClr val="121F23"/>
                </a:solidFill>
                <a:latin typeface="Aptos"/>
              </a:defRPr>
            </a:pPr>
            <a:r>
              <a:t>Date and shelf-life capture show urgency.</a:t>
            </a:r>
          </a:p>
          <a:p>
            <a:pPr>
              <a:spcAft>
                <a:spcPts val="600"/>
              </a:spcAft>
              <a:defRPr sz="1170">
                <a:solidFill>
                  <a:srgbClr val="121F23"/>
                </a:solidFill>
                <a:latin typeface="Aptos"/>
              </a:defRPr>
            </a:pPr>
            <a:r>
              <a:t>Expiring view shows what should move.</a:t>
            </a:r>
          </a:p>
          <a:p>
            <a:pPr>
              <a:spcAft>
                <a:spcPts val="600"/>
              </a:spcAft>
              <a:defRPr sz="1170">
                <a:solidFill>
                  <a:srgbClr val="121F23"/>
                </a:solidFill>
                <a:latin typeface="Aptos"/>
              </a:defRPr>
            </a:pPr>
            <a:r>
              <a:t>Together, these stop the marketplace from becoming fake or stale.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833872"/>
            <a:ext cx="10058400" cy="31089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550" b="1">
                <a:solidFill>
                  <a:srgbClr val="121F23"/>
                </a:solidFill>
                <a:latin typeface="Aptos"/>
              </a:rPr>
              <a:t>Positioning: one focused movement problem, solved with inventory-backed listings.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8778240" cy="1645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650" b="0">
                <a:solidFill>
                  <a:srgbClr val="58696F"/>
                </a:solidFill>
                <a:latin typeface="Aptos"/>
              </a:rPr>
              <a:t>Track mapping: Primary = Theme 7 Problem 34. Enabler = Theme 2 Problems 6, 9, 10.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27080" y="6473952"/>
            <a:ext cx="658368" cy="1645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750" b="0">
                <a:solidFill>
                  <a:srgbClr val="58696F"/>
                </a:solidFill>
                <a:latin typeface="Aptos"/>
              </a:rPr>
              <a:t>02 / 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438912"/>
            <a:ext cx="1417320" cy="310896"/>
          </a:xfrm>
          <a:prstGeom prst="roundRect">
            <a:avLst/>
          </a:prstGeom>
          <a:solidFill>
            <a:srgbClr val="E5F3EE"/>
          </a:solidFill>
          <a:ln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05A52"/>
                </a:solidFill>
                <a:latin typeface="Aptos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96112"/>
            <a:ext cx="905256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800" b="1">
                <a:solidFill>
                  <a:srgbClr val="121F23"/>
                </a:solidFill>
                <a:latin typeface="Aptos"/>
              </a:rPr>
              <a:t>GoodCo creates inventory-backed transfer listings.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81912"/>
            <a:ext cx="8686800" cy="4023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20" b="0">
                <a:solidFill>
                  <a:srgbClr val="58696F"/>
                </a:solidFill>
                <a:latin typeface="Aptos"/>
              </a:rPr>
              <a:t>Every marketplace listing starts as a reviewed pantry inventory lot.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57400"/>
            <a:ext cx="239572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7552" y="2313432"/>
            <a:ext cx="438912" cy="438912"/>
          </a:xfrm>
          <a:prstGeom prst="ellipse">
            <a:avLst/>
          </a:prstGeom>
          <a:solidFill>
            <a:srgbClr val="E5F3EE"/>
          </a:solidFill>
          <a:ln>
            <a:solidFill>
              <a:srgbClr val="E5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05A52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258568"/>
            <a:ext cx="1481328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21F23"/>
                </a:solidFill>
                <a:latin typeface="Aptos"/>
              </a:rPr>
              <a:t>Receive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624328"/>
            <a:ext cx="1481328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919" b="0">
                <a:solidFill>
                  <a:srgbClr val="58696F"/>
                </a:solidFill>
                <a:latin typeface="Aptos"/>
              </a:rPr>
              <a:t>Scan, type, photo, or speak item details.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2057400"/>
            <a:ext cx="239572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21024" y="2313432"/>
            <a:ext cx="438912" cy="438912"/>
          </a:xfrm>
          <a:prstGeom prst="ellipse">
            <a:avLst/>
          </a:prstGeom>
          <a:solidFill>
            <a:srgbClr val="E5F3EE"/>
          </a:solidFill>
          <a:ln>
            <a:solidFill>
              <a:srgbClr val="E5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05A52"/>
                </a:solidFill>
                <a:latin typeface="Apto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9663" y="2258568"/>
            <a:ext cx="1481328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21F23"/>
                </a:solidFill>
                <a:latin typeface="Aptos"/>
              </a:rPr>
              <a:t>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9663" y="2624328"/>
            <a:ext cx="1481328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919" b="0">
                <a:solidFill>
                  <a:srgbClr val="58696F"/>
                </a:solidFill>
                <a:latin typeface="Aptos"/>
              </a:rPr>
              <a:t>Confirm category, date, source, quantity.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9904" y="2057400"/>
            <a:ext cx="239572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254496" y="2313432"/>
            <a:ext cx="438912" cy="438912"/>
          </a:xfrm>
          <a:prstGeom prst="ellipse">
            <a:avLst/>
          </a:prstGeom>
          <a:solidFill>
            <a:srgbClr val="E5F3EE"/>
          </a:solidFill>
          <a:ln>
            <a:solidFill>
              <a:srgbClr val="E5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05A52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03136" y="2258568"/>
            <a:ext cx="1481328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21F23"/>
                </a:solidFill>
                <a:latin typeface="Aptos"/>
              </a:rPr>
              <a:t>Publish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03136" y="2624328"/>
            <a:ext cx="1481328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919" b="0">
                <a:solidFill>
                  <a:srgbClr val="58696F"/>
                </a:solidFill>
                <a:latin typeface="Aptos"/>
              </a:rPr>
              <a:t>List only eligible, redistributable lots.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23376" y="2057400"/>
            <a:ext cx="239572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887967" y="2313432"/>
            <a:ext cx="438912" cy="438912"/>
          </a:xfrm>
          <a:prstGeom prst="ellipse">
            <a:avLst/>
          </a:prstGeom>
          <a:solidFill>
            <a:srgbClr val="E5F3EE"/>
          </a:solidFill>
          <a:ln>
            <a:solidFill>
              <a:srgbClr val="E5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05A52"/>
                </a:solidFill>
                <a:latin typeface="Apto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36607" y="2258568"/>
            <a:ext cx="1481328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21F23"/>
                </a:solidFill>
                <a:latin typeface="Aptos"/>
              </a:rPr>
              <a:t>Transfer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36607" y="2624328"/>
            <a:ext cx="1481328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919" b="0">
                <a:solidFill>
                  <a:srgbClr val="58696F"/>
                </a:solidFill>
                <a:latin typeface="Aptos"/>
              </a:rPr>
              <a:t>Request, reserve, hand off, audit.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18688" y="2551176"/>
            <a:ext cx="219456" cy="0"/>
          </a:xfrm>
          <a:prstGeom prst="line">
            <a:avLst/>
          </a:prstGeom>
          <a:ln w="2794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852160" y="2551176"/>
            <a:ext cx="219456" cy="0"/>
          </a:xfrm>
          <a:prstGeom prst="line">
            <a:avLst/>
          </a:prstGeom>
          <a:ln w="2794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485632" y="2551176"/>
            <a:ext cx="219456" cy="0"/>
          </a:xfrm>
          <a:prstGeom prst="line">
            <a:avLst/>
          </a:prstGeom>
          <a:ln w="2794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" y="3886200"/>
            <a:ext cx="3246120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4133087"/>
            <a:ext cx="25603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500" b="1">
                <a:solidFill>
                  <a:srgbClr val="00897B"/>
                </a:solidFill>
                <a:latin typeface="Aptos"/>
              </a:rPr>
              <a:t>Trust guardrails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" y="4498848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60">
                <a:solidFill>
                  <a:srgbClr val="121F23"/>
                </a:solidFill>
                <a:latin typeface="Aptos"/>
              </a:defRPr>
            </a:pPr>
            <a:r>
              <a:t>Confirmed lot required.</a:t>
            </a:r>
          </a:p>
          <a:p>
            <a:pPr>
              <a:spcAft>
                <a:spcPts val="600"/>
              </a:spcAft>
              <a:defRPr sz="1060">
                <a:solidFill>
                  <a:srgbClr val="121F23"/>
                </a:solidFill>
                <a:latin typeface="Aptos"/>
              </a:defRPr>
            </a:pPr>
            <a:r>
              <a:t>Redistribution flag required.</a:t>
            </a:r>
          </a:p>
          <a:p>
            <a:pPr>
              <a:spcAft>
                <a:spcPts val="600"/>
              </a:spcAft>
              <a:defRPr sz="1060">
                <a:solidFill>
                  <a:srgbClr val="121F23"/>
                </a:solidFill>
                <a:latin typeface="Aptos"/>
              </a:defRPr>
            </a:pPr>
            <a:r>
              <a:t>TEFAP blocked by default.</a:t>
            </a:r>
          </a:p>
          <a:p>
            <a:pPr>
              <a:spcAft>
                <a:spcPts val="600"/>
              </a:spcAft>
              <a:defRPr sz="1060">
                <a:solidFill>
                  <a:srgbClr val="121F23"/>
                </a:solidFill>
                <a:latin typeface="Aptos"/>
              </a:defRPr>
            </a:pPr>
            <a:r>
              <a:t>No payment in MVP.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62272" y="3886200"/>
            <a:ext cx="3246120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18304" y="4133087"/>
            <a:ext cx="25603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500" b="1">
                <a:solidFill>
                  <a:srgbClr val="00897B"/>
                </a:solidFill>
                <a:latin typeface="Aptos"/>
              </a:rPr>
              <a:t>AI role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18304" y="4498848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60">
                <a:solidFill>
                  <a:srgbClr val="121F23"/>
                </a:solidFill>
                <a:latin typeface="Aptos"/>
              </a:defRPr>
            </a:pPr>
            <a:r>
              <a:t>Barcode lookup first.</a:t>
            </a:r>
          </a:p>
          <a:p>
            <a:pPr>
              <a:spcAft>
                <a:spcPts val="600"/>
              </a:spcAft>
              <a:defRPr sz="1060">
                <a:solidFill>
                  <a:srgbClr val="121F23"/>
                </a:solidFill>
                <a:latin typeface="Aptos"/>
              </a:defRPr>
            </a:pPr>
            <a:r>
              <a:t>OCR and voice draft fields.</a:t>
            </a:r>
          </a:p>
          <a:p>
            <a:pPr>
              <a:spcAft>
                <a:spcPts val="600"/>
              </a:spcAft>
              <a:defRPr sz="1060">
                <a:solidFill>
                  <a:srgbClr val="121F23"/>
                </a:solidFill>
                <a:latin typeface="Aptos"/>
              </a:defRPr>
            </a:pPr>
            <a:r>
              <a:t>LLM only for uncertain parsing.</a:t>
            </a:r>
          </a:p>
          <a:p>
            <a:pPr>
              <a:spcAft>
                <a:spcPts val="600"/>
              </a:spcAft>
              <a:defRPr sz="1060">
                <a:solidFill>
                  <a:srgbClr val="121F23"/>
                </a:solidFill>
                <a:latin typeface="Aptos"/>
              </a:defRPr>
            </a:pPr>
            <a:r>
              <a:t>Human confirms before save.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83" y="3886200"/>
            <a:ext cx="3246120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6" y="4133087"/>
            <a:ext cx="25603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500" b="1">
                <a:solidFill>
                  <a:srgbClr val="00897B"/>
                </a:solidFill>
                <a:latin typeface="Aptos"/>
              </a:rPr>
              <a:t>Live demo state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4498848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60">
                <a:solidFill>
                  <a:srgbClr val="121F23"/>
                </a:solidFill>
                <a:latin typeface="Aptos"/>
              </a:defRPr>
            </a:pPr>
            <a:r>
              <a:t>149 inventory lots.</a:t>
            </a:r>
          </a:p>
          <a:p>
            <a:pPr>
              <a:spcAft>
                <a:spcPts val="600"/>
              </a:spcAft>
              <a:defRPr sz="1060">
                <a:solidFill>
                  <a:srgbClr val="121F23"/>
                </a:solidFill>
                <a:latin typeface="Aptos"/>
              </a:defRPr>
            </a:pPr>
            <a:r>
              <a:t>73 active listings.</a:t>
            </a:r>
          </a:p>
          <a:p>
            <a:pPr>
              <a:spcAft>
                <a:spcPts val="600"/>
              </a:spcAft>
              <a:defRPr sz="1060">
                <a:solidFill>
                  <a:srgbClr val="121F23"/>
                </a:solidFill>
                <a:latin typeface="Aptos"/>
              </a:defRPr>
            </a:pPr>
            <a:r>
              <a:t>13 pantry profiles.</a:t>
            </a:r>
          </a:p>
          <a:p>
            <a:pPr>
              <a:spcAft>
                <a:spcPts val="600"/>
              </a:spcAft>
              <a:defRPr sz="1060">
                <a:solidFill>
                  <a:srgbClr val="121F23"/>
                </a:solidFill>
                <a:latin typeface="Aptos"/>
              </a:defRPr>
            </a:pPr>
            <a:r>
              <a:t>0 payments required.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779008"/>
            <a:ext cx="10012680" cy="31089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550" b="1">
                <a:solidFill>
                  <a:srgbClr val="121F23"/>
                </a:solidFill>
                <a:latin typeface="Aptos"/>
              </a:rPr>
              <a:t>Important logic: publishing does not reduce stock; requesting reserves stock; transfer decrements stock.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73952"/>
            <a:ext cx="8778240" cy="1645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650" b="0">
                <a:solidFill>
                  <a:srgbClr val="58696F"/>
                </a:solidFill>
                <a:latin typeface="Aptos"/>
              </a:rPr>
              <a:t>Live demo counts queried from Supabase on July 17, 2026.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27080" y="6473952"/>
            <a:ext cx="658368" cy="1645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750" b="0">
                <a:solidFill>
                  <a:srgbClr val="58696F"/>
                </a:solidFill>
                <a:latin typeface="Aptos"/>
              </a:rPr>
              <a:t>03 / 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438912"/>
            <a:ext cx="1417320" cy="310896"/>
          </a:xfrm>
          <a:prstGeom prst="roundRect">
            <a:avLst/>
          </a:prstGeom>
          <a:solidFill>
            <a:srgbClr val="E5F3EE"/>
          </a:solidFill>
          <a:ln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05A52"/>
                </a:solidFill>
                <a:latin typeface="Aptos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96112"/>
            <a:ext cx="905256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800" b="1">
                <a:solidFill>
                  <a:srgbClr val="121F23"/>
                </a:solidFill>
                <a:latin typeface="Aptos"/>
              </a:rPr>
              <a:t>Why this is worth building.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81912"/>
            <a:ext cx="8686800" cy="4023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20" b="0">
                <a:solidFill>
                  <a:srgbClr val="58696F"/>
                </a:solidFill>
                <a:latin typeface="Aptos"/>
              </a:rPr>
              <a:t>Lateral inventory sharing reduces mismatch when one pantry has surplus and another has shortage.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3273552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121408"/>
            <a:ext cx="26517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550" b="1">
                <a:solidFill>
                  <a:srgbClr val="B54242"/>
                </a:solidFill>
                <a:latin typeface="Aptos"/>
              </a:rPr>
              <a:t>Current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542032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80">
                <a:solidFill>
                  <a:srgbClr val="121F23"/>
                </a:solidFill>
                <a:latin typeface="Aptos"/>
              </a:defRPr>
            </a:pPr>
            <a:r>
              <a:t>Surplus is visible locally.</a:t>
            </a:r>
          </a:p>
          <a:p>
            <a:pPr>
              <a:spcAft>
                <a:spcPts val="600"/>
              </a:spcAft>
              <a:defRPr sz="1080">
                <a:solidFill>
                  <a:srgbClr val="121F23"/>
                </a:solidFill>
                <a:latin typeface="Aptos"/>
              </a:defRPr>
            </a:pPr>
            <a:r>
              <a:t>Need is discovered by calls or texts.</a:t>
            </a:r>
          </a:p>
          <a:p>
            <a:pPr>
              <a:spcAft>
                <a:spcPts val="600"/>
              </a:spcAft>
              <a:defRPr sz="1080">
                <a:solidFill>
                  <a:srgbClr val="121F23"/>
                </a:solidFill>
                <a:latin typeface="Aptos"/>
              </a:defRPr>
            </a:pPr>
            <a:r>
              <a:t>The hub remains the default coordinator.</a:t>
            </a:r>
          </a:p>
          <a:p>
            <a:pPr>
              <a:spcAft>
                <a:spcPts val="600"/>
              </a:spcAft>
              <a:defRPr sz="1080">
                <a:solidFill>
                  <a:srgbClr val="121F23"/>
                </a:solidFill>
                <a:latin typeface="Aptos"/>
              </a:defRPr>
            </a:pPr>
            <a:r>
              <a:t>Perishable food loses 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62272" y="1874519"/>
            <a:ext cx="3273552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121408"/>
            <a:ext cx="26517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550" b="1">
                <a:solidFill>
                  <a:srgbClr val="00897B"/>
                </a:solidFill>
                <a:latin typeface="Aptos"/>
              </a:rPr>
              <a:t>GoodCo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2542032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80">
                <a:solidFill>
                  <a:srgbClr val="121F23"/>
                </a:solidFill>
                <a:latin typeface="Aptos"/>
              </a:defRPr>
            </a:pPr>
            <a:r>
              <a:t>Eligible surplus is visible.</a:t>
            </a:r>
          </a:p>
          <a:p>
            <a:pPr>
              <a:spcAft>
                <a:spcPts val="600"/>
              </a:spcAft>
              <a:defRPr sz="1080">
                <a:solidFill>
                  <a:srgbClr val="121F23"/>
                </a:solidFill>
                <a:latin typeface="Aptos"/>
              </a:defRPr>
            </a:pPr>
            <a:r>
              <a:t>Requests reserve quantity.</a:t>
            </a:r>
          </a:p>
          <a:p>
            <a:pPr>
              <a:spcAft>
                <a:spcPts val="600"/>
              </a:spcAft>
              <a:defRPr sz="1080">
                <a:solidFill>
                  <a:srgbClr val="121F23"/>
                </a:solidFill>
                <a:latin typeface="Aptos"/>
              </a:defRPr>
            </a:pPr>
            <a:r>
              <a:t>Transfers keep audit trail.</a:t>
            </a:r>
          </a:p>
          <a:p>
            <a:pPr>
              <a:spcAft>
                <a:spcPts val="600"/>
              </a:spcAft>
              <a:defRPr sz="1080">
                <a:solidFill>
                  <a:srgbClr val="121F23"/>
                </a:solidFill>
                <a:latin typeface="Aptos"/>
              </a:defRPr>
            </a:pPr>
            <a:r>
              <a:t>Hub can focus on bulk flow.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47304" y="1874519"/>
            <a:ext cx="3273552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94192" y="2121408"/>
            <a:ext cx="26517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550" b="1">
                <a:solidFill>
                  <a:srgbClr val="266796"/>
                </a:solidFill>
                <a:latin typeface="Aptos"/>
              </a:rPr>
              <a:t>What we measure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2542032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80">
                <a:solidFill>
                  <a:srgbClr val="121F23"/>
                </a:solidFill>
                <a:latin typeface="Aptos"/>
              </a:defRPr>
            </a:pPr>
            <a:r>
              <a:t>Lots moved before move-by date.</a:t>
            </a:r>
          </a:p>
          <a:p>
            <a:pPr>
              <a:spcAft>
                <a:spcPts val="600"/>
              </a:spcAft>
              <a:defRPr sz="1080">
                <a:solidFill>
                  <a:srgbClr val="121F23"/>
                </a:solidFill>
                <a:latin typeface="Aptos"/>
              </a:defRPr>
            </a:pPr>
            <a:r>
              <a:t>Requests fulfilled.</a:t>
            </a:r>
          </a:p>
          <a:p>
            <a:pPr>
              <a:spcAft>
                <a:spcPts val="600"/>
              </a:spcAft>
              <a:defRPr sz="1080">
                <a:solidFill>
                  <a:srgbClr val="121F23"/>
                </a:solidFill>
                <a:latin typeface="Aptos"/>
              </a:defRPr>
            </a:pPr>
            <a:r>
              <a:t>Expired lots avoided.</a:t>
            </a:r>
          </a:p>
          <a:p>
            <a:pPr>
              <a:spcAft>
                <a:spcPts val="600"/>
              </a:spcAft>
              <a:defRPr sz="1080">
                <a:solidFill>
                  <a:srgbClr val="121F23"/>
                </a:solidFill>
                <a:latin typeface="Aptos"/>
              </a:defRPr>
            </a:pPr>
            <a:r>
              <a:t>Hub interventions avoided.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34440" y="4681728"/>
            <a:ext cx="2240280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99032" y="4809744"/>
            <a:ext cx="1947672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200" b="1">
                <a:solidFill>
                  <a:srgbClr val="B54242"/>
                </a:solidFill>
                <a:latin typeface="Aptos"/>
              </a:rPr>
              <a:t>30-40%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9032" y="5193792"/>
            <a:ext cx="1929384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840" b="0">
                <a:solidFill>
                  <a:srgbClr val="58696F"/>
                </a:solidFill>
                <a:latin typeface="Aptos"/>
              </a:rPr>
              <a:t>U.S. food supply estimated wasted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56048" y="4681728"/>
            <a:ext cx="2240280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809744"/>
            <a:ext cx="1947672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200" b="1">
                <a:solidFill>
                  <a:srgbClr val="266796"/>
                </a:solidFill>
                <a:latin typeface="Aptos"/>
              </a:rPr>
              <a:t>10-25%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5193792"/>
            <a:ext cx="1929384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840" b="0">
                <a:solidFill>
                  <a:srgbClr val="58696F"/>
                </a:solidFill>
                <a:latin typeface="Aptos"/>
              </a:rPr>
              <a:t>Cost reduction in one lateral-transshipment study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50224" y="4681728"/>
            <a:ext cx="2240280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4816" y="4809744"/>
            <a:ext cx="1947672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200" b="1">
                <a:solidFill>
                  <a:srgbClr val="00897B"/>
                </a:solidFill>
                <a:latin typeface="Aptos"/>
              </a:rPr>
              <a:t>Pilot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14816" y="5193792"/>
            <a:ext cx="1929384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840" b="0">
                <a:solidFill>
                  <a:srgbClr val="58696F"/>
                </a:solidFill>
                <a:latin typeface="Aptos"/>
              </a:rPr>
              <a:t>Needed before claiming GoodCo savings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925312"/>
            <a:ext cx="1001268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550" b="1">
                <a:solidFill>
                  <a:srgbClr val="121F23"/>
                </a:solidFill>
                <a:latin typeface="Aptos"/>
              </a:rPr>
              <a:t>Honest claim: the product creates the data and workflow needed to test this efficiency gain in real pantry operations.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73952"/>
            <a:ext cx="8778240" cy="1645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650" b="0">
                <a:solidFill>
                  <a:srgbClr val="58696F"/>
                </a:solidFill>
                <a:latin typeface="Aptos"/>
              </a:rPr>
              <a:t>Sources: USDA food waste FAQ; inventory sharing / lateral-transshipment literature. GoodCo impact is not yet pilot-measured.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7080" y="6473952"/>
            <a:ext cx="658368" cy="1645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750" b="0">
                <a:solidFill>
                  <a:srgbClr val="58696F"/>
                </a:solidFill>
                <a:latin typeface="Aptos"/>
              </a:rPr>
              <a:t>04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