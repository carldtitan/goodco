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115568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GOODCO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630936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Aptos"/>
              </a:rPr>
              <a:t>Pantries cannot rebalance food they cannot see.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84248"/>
            <a:ext cx="6080760" cy="5303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20" b="0">
                <a:solidFill>
                  <a:srgbClr val="CADEDA"/>
                </a:solidFill>
                <a:latin typeface="Aptos"/>
              </a:rPr>
              <a:t>Food banks are strong hubs. The weak point is the last-mile network: pantry inventory, surplus, and urgency usually stay local.</a:t>
            </a:r>
          </a:p>
        </p:txBody>
      </p:sp>
      <p:sp>
        <p:nvSpPr>
          <p:cNvPr id="5" name="Oval 4"/>
          <p:cNvSpPr/>
          <p:nvPr/>
        </p:nvSpPr>
        <p:spPr>
          <a:xfrm>
            <a:off x="8823960" y="1143000"/>
            <a:ext cx="960120" cy="960120"/>
          </a:xfrm>
          <a:prstGeom prst="ellipse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Hub</a:t>
            </a:r>
          </a:p>
        </p:txBody>
      </p:sp>
      <p:sp>
        <p:nvSpPr>
          <p:cNvPr id="6" name="Oval 5"/>
          <p:cNvSpPr/>
          <p:nvPr/>
        </p:nvSpPr>
        <p:spPr>
          <a:xfrm>
            <a:off x="7452360" y="2880360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SF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7754112" y="2075688"/>
            <a:ext cx="1554480" cy="804672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012680" y="2880360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Oak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08592" y="2075688"/>
            <a:ext cx="1005840" cy="804672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726679" y="4645152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Marin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8028431" y="2075688"/>
            <a:ext cx="1280161" cy="2569464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7000" y="4645152"/>
            <a:ext cx="603504" cy="603504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D2226"/>
                </a:solidFill>
                <a:latin typeface="Aptos"/>
              </a:rPr>
              <a:t>SJ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08592" y="2075688"/>
            <a:ext cx="1280160" cy="2569464"/>
          </a:xfrm>
          <a:prstGeom prst="line">
            <a:avLst/>
          </a:prstGeom>
          <a:ln w="12700">
            <a:solidFill>
              <a:srgbClr val="587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55864" y="3182112"/>
            <a:ext cx="1956816" cy="0"/>
          </a:xfrm>
          <a:prstGeom prst="line">
            <a:avLst/>
          </a:prstGeom>
          <a:ln w="4064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028431" y="4956048"/>
            <a:ext cx="2258569" cy="0"/>
          </a:xfrm>
          <a:prstGeom prst="line">
            <a:avLst/>
          </a:prstGeom>
          <a:ln w="4064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44968" y="3483864"/>
            <a:ext cx="283463" cy="1161288"/>
          </a:xfrm>
          <a:prstGeom prst="line">
            <a:avLst/>
          </a:prstGeom>
          <a:ln w="30480">
            <a:solidFill>
              <a:srgbClr val="F4B1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3232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60k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U.S. pantry and meal-program network 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44368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350+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Alameda County partner agencies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75504" y="4041648"/>
            <a:ext cx="205740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4169663"/>
            <a:ext cx="176479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F4B146"/>
                </a:solidFill>
                <a:latin typeface="Aptos"/>
              </a:rPr>
              <a:t>900+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4553712"/>
            <a:ext cx="174650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Second Harvest SV distribution 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69280"/>
            <a:ext cx="7498079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FFFFFF"/>
                </a:solidFill>
                <a:latin typeface="Aptos"/>
              </a:rPr>
              <a:t>GoodCo adds the missing lateral layer: inventory visibility plus governed pantry-to-pantry movement.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Sources: Feeding America, Alameda County Community Food Bank, Second Harvest Silicon Valley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TRACK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We are solving one movement problem deeply.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The inventory work is not a side quest. It is the trust layer required before pantries can share food.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206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31136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1">
                <a:solidFill>
                  <a:srgbClr val="00897B"/>
                </a:solidFill>
                <a:latin typeface="Aptos"/>
              </a:rPr>
              <a:t>Primary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33472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100" b="1">
                <a:solidFill>
                  <a:srgbClr val="121F23"/>
                </a:solidFill>
                <a:latin typeface="Aptos"/>
              </a:rPr>
              <a:t>Theme 7, Problem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90672"/>
            <a:ext cx="425196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121F23"/>
                </a:solidFill>
                <a:latin typeface="Aptos"/>
              </a:rPr>
              <a:t>Match surplus to shortage before product ages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75887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GoodCo applies this at the pantry level.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Pantries publish eligible surplus.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Other pantries request it before it expires or sits idle.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965960"/>
            <a:ext cx="51206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31136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1">
                <a:solidFill>
                  <a:srgbClr val="00897B"/>
                </a:solidFill>
                <a:latin typeface="Aptos"/>
              </a:rPr>
              <a:t>Supporting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33472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100" b="1">
                <a:solidFill>
                  <a:srgbClr val="121F23"/>
                </a:solidFill>
                <a:latin typeface="Aptos"/>
              </a:rPr>
              <a:t>Theme 2, Problems 6, 9,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36392"/>
            <a:ext cx="41605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6: receiving creates the trusted lot.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9: date and shelf-life capture at receiving.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10: expiring view shows what should move.</a:t>
            </a:r>
          </a:p>
          <a:p>
            <a:pPr>
              <a:spcAft>
                <a:spcPts val="600"/>
              </a:spcAft>
              <a:defRPr sz="1170">
                <a:solidFill>
                  <a:srgbClr val="121F23"/>
                </a:solidFill>
                <a:latin typeface="Aptos"/>
              </a:defRPr>
            </a:pPr>
            <a:r>
              <a:t>Together, these stop the marketplace from becoming fake or stale.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33872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Positioning: not a broad food-bank AI system, not all 35 problems, and not a generic marketplace.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Track mapping from local hackathon problem list: Theme 7 Problem 34; Theme 2 Problems 6, 9, 10.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GoodCo creates inventory-backed transfer listings.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Every marketplace listing starts as a reviewed pantry inventory 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2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Scan, type, photo, or speak item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21024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Confirm category, date, source, quantity.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54496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3136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Publish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List only eligible, redistributable lots.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2057400"/>
            <a:ext cx="239572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887967" y="2313432"/>
            <a:ext cx="438912" cy="438912"/>
          </a:xfrm>
          <a:prstGeom prst="ellipse">
            <a:avLst/>
          </a:prstGeom>
          <a:solidFill>
            <a:srgbClr val="E5F3EE"/>
          </a:solidFill>
          <a:ln>
            <a:solidFill>
              <a:srgbClr val="E5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05A52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7" y="2258568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50" b="1">
                <a:solidFill>
                  <a:srgbClr val="121F23"/>
                </a:solidFill>
                <a:latin typeface="Aptos"/>
              </a:rPr>
              <a:t>Transfer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2624328"/>
            <a:ext cx="1481328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919" b="0">
                <a:solidFill>
                  <a:srgbClr val="58696F"/>
                </a:solidFill>
                <a:latin typeface="Aptos"/>
              </a:rPr>
              <a:t>Request, reserve, hand off, audit.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18688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852160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85632" y="2551176"/>
            <a:ext cx="219456" cy="0"/>
          </a:xfrm>
          <a:prstGeom prst="line">
            <a:avLst/>
          </a:prstGeom>
          <a:ln w="2794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Trust 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Confirmed lot required.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Redistribution flag required.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TEFAP blocked by default.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No payment in MVP.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AI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4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Barcode lookup first.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OCR and voice draft fields.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LLM only for uncertain parsing.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Human confirms before save.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3886200"/>
            <a:ext cx="324612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133087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0897B"/>
                </a:solidFill>
                <a:latin typeface="Aptos"/>
              </a:rPr>
              <a:t>Live demo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988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149 inventory lots.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73 active listings.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13 pantry profiles.</a:t>
            </a:r>
          </a:p>
          <a:p>
            <a:pPr>
              <a:spcAft>
                <a:spcPts val="600"/>
              </a:spcAft>
              <a:defRPr sz="1060">
                <a:solidFill>
                  <a:srgbClr val="121F23"/>
                </a:solidFill>
                <a:latin typeface="Aptos"/>
              </a:defRPr>
            </a:pPr>
            <a:r>
              <a:t>0 payments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79008"/>
            <a:ext cx="100126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Important logic: publishing does not reduce stock; requesting reserves stock; transfer decrements stock.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Live demo counts queried from Supabase on July 17, 2026.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417320" cy="310896"/>
          </a:xfrm>
          <a:prstGeom prst="roundRect">
            <a:avLst/>
          </a:prstGeom>
          <a:solidFill>
            <a:srgbClr val="E5F3EE"/>
          </a:solidFill>
          <a:ln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05A52"/>
                </a:solidFill>
                <a:latin typeface="Aptos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96112"/>
            <a:ext cx="905256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800" b="1">
                <a:solidFill>
                  <a:srgbClr val="121F23"/>
                </a:solidFill>
                <a:latin typeface="Aptos"/>
              </a:rPr>
              <a:t>Why this is worth building.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81912"/>
            <a:ext cx="8686800" cy="4023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20" b="0">
                <a:solidFill>
                  <a:srgbClr val="58696F"/>
                </a:solidFill>
                <a:latin typeface="Aptos"/>
              </a:rPr>
              <a:t>Lateral inventory sharing reduces mismatch when one pantry has surplus and another has shortage.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B54242"/>
                </a:solidFill>
                <a:latin typeface="Aptos"/>
              </a:rPr>
              <a:t>Current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Surplus is visible locally.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Need is discovered by calls or texts.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The hub remains the default coordinator.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Perishable food loses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00897B"/>
                </a:solidFill>
                <a:latin typeface="Aptos"/>
              </a:rPr>
              <a:t>GoodCo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Eligible surplus is visible.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Requests reserve quantity.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Transfers keep audit trail.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Hub can focus on bulk 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7304" y="1874519"/>
            <a:ext cx="327355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121408"/>
            <a:ext cx="26517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50" b="1">
                <a:solidFill>
                  <a:srgbClr val="266796"/>
                </a:solidFill>
                <a:latin typeface="Aptos"/>
              </a:rPr>
              <a:t>What we 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542032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Lots moved before move-by date.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Requests fulfilled.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Expired lots avoided.</a:t>
            </a:r>
          </a:p>
          <a:p>
            <a:pPr>
              <a:spcAft>
                <a:spcPts val="600"/>
              </a:spcAft>
              <a:defRPr sz="1080">
                <a:solidFill>
                  <a:srgbClr val="121F23"/>
                </a:solidFill>
                <a:latin typeface="Aptos"/>
              </a:defRPr>
            </a:pPr>
            <a:r>
              <a:t>Hub interventions avoided.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9032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B54242"/>
                </a:solidFill>
                <a:latin typeface="Aptos"/>
              </a:rPr>
              <a:t>30-40%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U.S. food supply estimated wasted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266796"/>
                </a:solidFill>
                <a:latin typeface="Aptos"/>
              </a:rPr>
              <a:t>10-25%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Cost reduction in one lateral-transshipment study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50224" y="4681728"/>
            <a:ext cx="2240280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D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6" y="4809744"/>
            <a:ext cx="1947672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0897B"/>
                </a:solidFill>
                <a:latin typeface="Aptos"/>
              </a:rPr>
              <a:t>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4816" y="5193792"/>
            <a:ext cx="1929384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840" b="0">
                <a:solidFill>
                  <a:srgbClr val="58696F"/>
                </a:solidFill>
                <a:latin typeface="Aptos"/>
              </a:rPr>
              <a:t>Needed before claiming GoodCo savings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01268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550" b="1">
                <a:solidFill>
                  <a:srgbClr val="121F23"/>
                </a:solidFill>
                <a:latin typeface="Aptos"/>
              </a:rPr>
              <a:t>Honest claim: the product creates the data and workflow needed to test this efficiency gain in real pantry operations.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73952"/>
            <a:ext cx="877824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650" b="0">
                <a:solidFill>
                  <a:srgbClr val="58696F"/>
                </a:solidFill>
                <a:latin typeface="Aptos"/>
              </a:rPr>
              <a:t>Sources: USDA food waste FAQ; inventory sharing / lateral-transshipment literature. GoodCo impact is not yet pilot-measured.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647395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750" b="0">
                <a:solidFill>
                  <a:srgbClr val="58696F"/>
                </a:solidFill>
                <a:latin typeface="Aptos"/>
              </a:rPr>
              <a:t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