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566928"/>
            <a:ext cx="137160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BE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18288" bIns="18288"/>
          <a:lstStyle/>
          <a:p>
            <a:pPr algn="ctr"/>
            <a:r>
              <a:rPr sz="1050" b="1">
                <a:solidFill>
                  <a:srgbClr val="005E53"/>
                </a:solidFill>
                <a:latin typeface="Aptos"/>
              </a:rPr>
              <a:t>GOODCO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34440"/>
            <a:ext cx="5303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ptos Display"/>
              </a:rPr>
              <a:t>Make the spokes talk.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2084831"/>
            <a:ext cx="53035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D4E5E4"/>
                </a:solidFill>
                <a:latin typeface="Aptos"/>
              </a:rPr>
              <a:t>Food banks coordinate the hub. GoodCo gives pantries lateral visibility so eligible surplus can move before it expires.</a:t>
            </a:r>
          </a:p>
        </p:txBody>
      </p:sp>
      <p:cxnSp>
        <p:nvCxnSpPr>
          <p:cNvPr id="5" name="Connector 4"/>
          <p:cNvCxnSpPr/>
          <p:nvPr/>
        </p:nvCxnSpPr>
        <p:spPr>
          <a:xfrm flipH="1">
            <a:off x="7818120" y="2093976"/>
            <a:ext cx="1645920" cy="763524"/>
          </a:xfrm>
          <a:prstGeom prst="line">
            <a:avLst/>
          </a:prstGeom>
          <a:ln w="13970">
            <a:solidFill>
              <a:srgbClr val="5C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464040" y="2093976"/>
            <a:ext cx="1124712" cy="763524"/>
          </a:xfrm>
          <a:prstGeom prst="line">
            <a:avLst/>
          </a:prstGeom>
          <a:ln w="13970">
            <a:solidFill>
              <a:srgbClr val="5C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8001000" y="2093976"/>
            <a:ext cx="1463040" cy="2267712"/>
          </a:xfrm>
          <a:prstGeom prst="line">
            <a:avLst/>
          </a:prstGeom>
          <a:ln w="13970">
            <a:solidFill>
              <a:srgbClr val="5C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9464040" y="2093976"/>
            <a:ext cx="1161288" cy="2226564"/>
          </a:xfrm>
          <a:prstGeom prst="line">
            <a:avLst/>
          </a:prstGeom>
          <a:ln w="13970">
            <a:solidFill>
              <a:srgbClr val="5C7C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202168" y="3246120"/>
            <a:ext cx="2002536" cy="0"/>
          </a:xfrm>
          <a:prstGeom prst="line">
            <a:avLst/>
          </a:prstGeom>
          <a:ln w="36830">
            <a:solidFill>
              <a:srgbClr val="F6B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818120" y="3639312"/>
            <a:ext cx="182880" cy="722376"/>
          </a:xfrm>
          <a:prstGeom prst="line">
            <a:avLst/>
          </a:prstGeom>
          <a:ln w="36830">
            <a:solidFill>
              <a:srgbClr val="F6B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8412480" y="4709160"/>
            <a:ext cx="1819656" cy="64008"/>
          </a:xfrm>
          <a:prstGeom prst="line">
            <a:avLst/>
          </a:prstGeom>
          <a:ln w="36830">
            <a:solidFill>
              <a:srgbClr val="F6B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8970263" y="1106424"/>
            <a:ext cx="987552" cy="987552"/>
          </a:xfrm>
          <a:prstGeom prst="ellipse">
            <a:avLst/>
          </a:prstGeom>
          <a:solidFill>
            <a:srgbClr val="008B7A"/>
          </a:solidFill>
          <a:ln>
            <a:solidFill>
              <a:srgbClr val="008B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Aptos Display"/>
              </a:rPr>
              <a:t>Hub</a:t>
            </a:r>
          </a:p>
        </p:txBody>
      </p:sp>
      <p:sp>
        <p:nvSpPr>
          <p:cNvPr id="13" name="Oval 12"/>
          <p:cNvSpPr/>
          <p:nvPr/>
        </p:nvSpPr>
        <p:spPr>
          <a:xfrm>
            <a:off x="7429500" y="2857500"/>
            <a:ext cx="777240" cy="777240"/>
          </a:xfrm>
          <a:prstGeom prst="ellipse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50" b="1">
                <a:solidFill>
                  <a:srgbClr val="0F2023"/>
                </a:solidFill>
                <a:latin typeface="Aptos Display"/>
              </a:rPr>
              <a:t>SF</a:t>
            </a:r>
          </a:p>
        </p:txBody>
      </p:sp>
      <p:sp>
        <p:nvSpPr>
          <p:cNvPr id="14" name="Oval 13"/>
          <p:cNvSpPr/>
          <p:nvPr/>
        </p:nvSpPr>
        <p:spPr>
          <a:xfrm>
            <a:off x="10200132" y="2857500"/>
            <a:ext cx="777240" cy="777240"/>
          </a:xfrm>
          <a:prstGeom prst="ellipse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50" b="1">
                <a:solidFill>
                  <a:srgbClr val="0F2023"/>
                </a:solidFill>
                <a:latin typeface="Aptos Display"/>
              </a:rPr>
              <a:t>Oak</a:t>
            </a:r>
          </a:p>
        </p:txBody>
      </p:sp>
      <p:sp>
        <p:nvSpPr>
          <p:cNvPr id="15" name="Oval 14"/>
          <p:cNvSpPr/>
          <p:nvPr/>
        </p:nvSpPr>
        <p:spPr>
          <a:xfrm>
            <a:off x="7589520" y="4361688"/>
            <a:ext cx="822960" cy="822960"/>
          </a:xfrm>
          <a:prstGeom prst="ellipse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50" b="1">
                <a:solidFill>
                  <a:srgbClr val="0F2023"/>
                </a:solidFill>
                <a:latin typeface="Aptos Display"/>
              </a:rPr>
              <a:t>Marin</a:t>
            </a:r>
          </a:p>
        </p:txBody>
      </p:sp>
      <p:sp>
        <p:nvSpPr>
          <p:cNvPr id="16" name="Oval 15"/>
          <p:cNvSpPr/>
          <p:nvPr/>
        </p:nvSpPr>
        <p:spPr>
          <a:xfrm>
            <a:off x="10236707" y="4320540"/>
            <a:ext cx="777240" cy="777240"/>
          </a:xfrm>
          <a:prstGeom prst="ellipse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1150" b="1">
                <a:solidFill>
                  <a:srgbClr val="0F2023"/>
                </a:solidFill>
                <a:latin typeface="Aptos Display"/>
              </a:rPr>
              <a:t>SJ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944" y="3767328"/>
            <a:ext cx="173736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3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46304" tIns="109728" bIns="73152"/>
          <a:lstStyle/>
          <a:p>
            <a:pPr algn="ctr"/>
            <a:r>
              <a:rPr sz="2600" b="1">
                <a:solidFill>
                  <a:srgbClr val="F6B23C"/>
                </a:solidFill>
                <a:latin typeface="Aptos Display"/>
              </a:rPr>
              <a:t>60k</a:t>
            </a:r>
          </a:p>
          <a:p>
            <a:pPr>
              <a:spcBef>
                <a:spcPts val="200"/>
              </a:spcBef>
            </a:pPr>
            <a:r>
              <a:rPr sz="1150">
                <a:solidFill>
                  <a:srgbClr val="4F6369"/>
                </a:solidFill>
                <a:latin typeface="Aptos"/>
              </a:rPr>
              <a:t>U.S. pantry / meal-program network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51760" y="3767328"/>
            <a:ext cx="182880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3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46304" tIns="109728" bIns="73152"/>
          <a:lstStyle/>
          <a:p>
            <a:pPr algn="ctr"/>
            <a:r>
              <a:rPr sz="2600" b="1">
                <a:solidFill>
                  <a:srgbClr val="F6B23C"/>
                </a:solidFill>
                <a:latin typeface="Aptos Display"/>
              </a:rPr>
              <a:t>350+</a:t>
            </a:r>
          </a:p>
          <a:p>
            <a:pPr>
              <a:spcBef>
                <a:spcPts val="200"/>
              </a:spcBef>
            </a:pPr>
            <a:r>
              <a:rPr sz="1150">
                <a:solidFill>
                  <a:srgbClr val="4F6369"/>
                </a:solidFill>
                <a:latin typeface="Aptos"/>
              </a:rPr>
              <a:t>ACCFB Alameda partner agencies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09160" y="3767328"/>
            <a:ext cx="178308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3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46304" tIns="109728" bIns="73152"/>
          <a:lstStyle/>
          <a:p>
            <a:pPr algn="ctr"/>
            <a:r>
              <a:rPr sz="2600" b="1">
                <a:solidFill>
                  <a:srgbClr val="F6B23C"/>
                </a:solidFill>
                <a:latin typeface="Aptos Display"/>
              </a:rPr>
              <a:t>900+</a:t>
            </a:r>
          </a:p>
          <a:p>
            <a:pPr>
              <a:spcBef>
                <a:spcPts val="200"/>
              </a:spcBef>
            </a:pPr>
            <a:r>
              <a:rPr sz="1150">
                <a:solidFill>
                  <a:srgbClr val="4F6369"/>
                </a:solidFill>
                <a:latin typeface="Aptos"/>
              </a:rPr>
              <a:t>Second Harvest SV distribution sites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5349240"/>
            <a:ext cx="7680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Aptos Display"/>
              </a:rPr>
              <a:t>One shared layer for inventory visibility and governed pantry-to-pantry movement.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6446520"/>
            <a:ext cx="9692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79094"/>
                </a:solidFill>
                <a:latin typeface="Aptos"/>
              </a:rPr>
              <a:t>Sources: Feeding America, ACCFB, Second Harvest Silicon Valley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65408" y="6446520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79094"/>
                </a:solidFill>
                <a:latin typeface="Aptos"/>
              </a:rPr>
              <a:t>01 / 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502920"/>
            <a:ext cx="1371600" cy="384048"/>
          </a:xfrm>
          <a:prstGeom prst="roundRect">
            <a:avLst/>
          </a:prstGeom>
          <a:solidFill>
            <a:srgbClr val="DBEFEA"/>
          </a:solidFill>
          <a:ln w="12700">
            <a:solidFill>
              <a:srgbClr val="C3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18288" bIns="18288"/>
          <a:lstStyle/>
          <a:p>
            <a:pPr algn="ctr"/>
            <a:r>
              <a:rPr sz="1050" b="1">
                <a:solidFill>
                  <a:srgbClr val="005E53"/>
                </a:solidFill>
                <a:latin typeface="Aptos"/>
              </a:rPr>
              <a:t>TRACK FIT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15568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0F2023"/>
                </a:solidFill>
                <a:latin typeface="Aptos Display"/>
              </a:rPr>
              <a:t>Theme 7 is the product. Theme 2 makes it trustworthy.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1874519"/>
            <a:ext cx="10241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0">
                <a:solidFill>
                  <a:srgbClr val="4F6369"/>
                </a:solidFill>
                <a:latin typeface="Aptos"/>
              </a:rPr>
              <a:t>The focus is lateral movement of food. Inventory is the control layer that keeps the movement safe.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606040"/>
            <a:ext cx="4983480" cy="187451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3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46304"/>
          <a:lstStyle/>
          <a:p>
            <a:pPr algn="l"/>
            <a:r>
              <a:rPr sz="2200" b="1">
                <a:solidFill>
                  <a:srgbClr val="008B7A"/>
                </a:solidFill>
                <a:latin typeface="Aptos Display"/>
              </a:rPr>
              <a:t>Primary: Theme 7, Problem 34</a:t>
            </a:r>
          </a:p>
          <a:p>
            <a:pPr algn="l">
              <a:spcBef>
                <a:spcPts val="800"/>
              </a:spcBef>
            </a:pPr>
            <a:r>
              <a:rPr sz="2300" b="0">
                <a:solidFill>
                  <a:srgbClr val="0F2023"/>
                </a:solidFill>
                <a:latin typeface="Aptos"/>
              </a:rPr>
              <a:t>Match surplus to shortage before product ages out.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1072" y="2606040"/>
            <a:ext cx="4983480" cy="187451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3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46304"/>
          <a:lstStyle/>
          <a:p>
            <a:pPr algn="l"/>
            <a:r>
              <a:rPr sz="2200" b="1">
                <a:solidFill>
                  <a:srgbClr val="21608E"/>
                </a:solidFill>
                <a:latin typeface="Aptos Display"/>
              </a:rPr>
              <a:t>Supporting: Theme 2</a:t>
            </a:r>
          </a:p>
          <a:p>
            <a:pPr algn="l">
              <a:spcBef>
                <a:spcPts val="800"/>
              </a:spcBef>
            </a:pPr>
            <a:r>
              <a:rPr sz="2300" b="0">
                <a:solidFill>
                  <a:srgbClr val="0F2023"/>
                </a:solidFill>
                <a:latin typeface="Aptos"/>
              </a:rPr>
              <a:t>Verified receiving, shelf-life, and category data make each listing real.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525780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0F2023"/>
                </a:solidFill>
                <a:latin typeface="Aptos Display"/>
              </a:rPr>
              <a:t>One focused platform: pantry-to-pantry movement powered by confirmed pantry inventory.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446520"/>
            <a:ext cx="9692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F6369"/>
                </a:solidFill>
                <a:latin typeface="Aptos"/>
              </a:rPr>
              <a:t>Track mapping: primary problem = surplus-to-shortage matching; inventory work is the enabling foundation.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65408" y="6446520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F6369"/>
                </a:solidFill>
                <a:latin typeface="Aptos"/>
              </a:rPr>
              <a:t>02 / 05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502920"/>
            <a:ext cx="1371600" cy="384048"/>
          </a:xfrm>
          <a:prstGeom prst="roundRect">
            <a:avLst/>
          </a:prstGeom>
          <a:solidFill>
            <a:srgbClr val="DBEFEA"/>
          </a:solidFill>
          <a:ln w="12700">
            <a:solidFill>
              <a:srgbClr val="C3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18288" bIns="18288"/>
          <a:lstStyle/>
          <a:p>
            <a:pPr algn="ctr"/>
            <a:r>
              <a:rPr sz="1050" b="1">
                <a:solidFill>
                  <a:srgbClr val="005E53"/>
                </a:solidFill>
                <a:latin typeface="Aptos"/>
              </a:rPr>
              <a:t>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97280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F2023"/>
                </a:solidFill>
                <a:latin typeface="Aptos Display"/>
              </a:rPr>
              <a:t>Inventory-backed listings, not a generic marketplace.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1865376"/>
            <a:ext cx="10332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0">
                <a:solidFill>
                  <a:srgbClr val="4F6369"/>
                </a:solidFill>
                <a:latin typeface="Aptos"/>
              </a:rPr>
              <a:t>A pantry can only publish items it has already reviewed and confirmed.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783080" y="3127248"/>
            <a:ext cx="8503920" cy="0"/>
          </a:xfrm>
          <a:prstGeom prst="line">
            <a:avLst/>
          </a:prstGeom>
          <a:ln w="40640">
            <a:solidFill>
              <a:srgbClr val="008B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49808" y="2578608"/>
            <a:ext cx="2423160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3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96112" y="2706624"/>
            <a:ext cx="475488" cy="475488"/>
          </a:xfrm>
          <a:prstGeom prst="ellipse">
            <a:avLst/>
          </a:prstGeom>
          <a:solidFill>
            <a:srgbClr val="DBEFEA"/>
          </a:solidFill>
          <a:ln>
            <a:solidFill>
              <a:srgbClr val="DBE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005E53"/>
                </a:solidFill>
                <a:latin typeface="Aptos Display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834639"/>
            <a:ext cx="14630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2023"/>
                </a:solidFill>
                <a:latin typeface="Aptos Display"/>
              </a:rPr>
              <a:t>Receive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3346703"/>
            <a:ext cx="1920239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80" b="0">
                <a:solidFill>
                  <a:srgbClr val="0F2023"/>
                </a:solidFill>
                <a:latin typeface="Aptos"/>
              </a:rPr>
              <a:t>Scan, type, photo, or voice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2578608"/>
            <a:ext cx="2423160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3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602736" y="2706624"/>
            <a:ext cx="475488" cy="475488"/>
          </a:xfrm>
          <a:prstGeom prst="ellipse">
            <a:avLst/>
          </a:prstGeom>
          <a:solidFill>
            <a:srgbClr val="DBEFEA"/>
          </a:solidFill>
          <a:ln>
            <a:solidFill>
              <a:srgbClr val="DBE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005E53"/>
                </a:solidFill>
                <a:latin typeface="Aptos Display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1104" y="2834639"/>
            <a:ext cx="14630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2023"/>
                </a:solidFill>
                <a:latin typeface="Aptos Display"/>
              </a:rPr>
              <a:t>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0752" y="3346703"/>
            <a:ext cx="1920239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80" b="0">
                <a:solidFill>
                  <a:srgbClr val="0F2023"/>
                </a:solidFill>
                <a:latin typeface="Aptos"/>
              </a:rPr>
              <a:t>Confirm quantity, category, date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6" y="2578608"/>
            <a:ext cx="2423160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3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9360" y="2706624"/>
            <a:ext cx="475488" cy="475488"/>
          </a:xfrm>
          <a:prstGeom prst="ellipse">
            <a:avLst/>
          </a:prstGeom>
          <a:solidFill>
            <a:srgbClr val="DBEFEA"/>
          </a:solidFill>
          <a:ln>
            <a:solidFill>
              <a:srgbClr val="DBE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005E53"/>
                </a:solidFill>
                <a:latin typeface="Aptos Display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8" y="2834639"/>
            <a:ext cx="14630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2023"/>
                </a:solidFill>
                <a:latin typeface="Aptos Display"/>
              </a:rPr>
              <a:t>Publish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3346703"/>
            <a:ext cx="1920239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80" b="0">
                <a:solidFill>
                  <a:srgbClr val="0F2023"/>
                </a:solidFill>
                <a:latin typeface="Aptos"/>
              </a:rPr>
              <a:t>Only eligible surplus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9680" y="2578608"/>
            <a:ext cx="2423160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3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015984" y="2706624"/>
            <a:ext cx="475488" cy="475488"/>
          </a:xfrm>
          <a:prstGeom prst="ellipse">
            <a:avLst/>
          </a:prstGeom>
          <a:solidFill>
            <a:srgbClr val="DBEFEA"/>
          </a:solidFill>
          <a:ln>
            <a:solidFill>
              <a:srgbClr val="DBE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005E53"/>
                </a:solidFill>
                <a:latin typeface="Aptos Display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74352" y="2834639"/>
            <a:ext cx="146303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2023"/>
                </a:solidFill>
                <a:latin typeface="Aptos Display"/>
              </a:rPr>
              <a:t>Transfer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3346703"/>
            <a:ext cx="1920239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80" b="0">
                <a:solidFill>
                  <a:srgbClr val="0F2023"/>
                </a:solidFill>
                <a:latin typeface="Aptos"/>
              </a:rPr>
              <a:t>Request, reserve, hand off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" y="4617720"/>
            <a:ext cx="3154680" cy="12070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3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6" y="4782312"/>
            <a:ext cx="27523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08B7A"/>
                </a:solidFill>
                <a:latin typeface="Aptos Display"/>
              </a:rPr>
              <a:t>Trust rules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" y="5184648"/>
            <a:ext cx="275234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80" b="0">
                <a:solidFill>
                  <a:srgbClr val="0F2023"/>
                </a:solidFill>
                <a:latin typeface="Aptos"/>
              </a:rPr>
              <a:t>Confirmed lot. Redistributable. Non-TEFAP by default.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17136" y="4617720"/>
            <a:ext cx="3154680" cy="12070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3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18304" y="4782312"/>
            <a:ext cx="27523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08B7A"/>
                </a:solidFill>
                <a:latin typeface="Aptos Display"/>
              </a:rPr>
              <a:t>AI role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18304" y="5184648"/>
            <a:ext cx="275234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80" b="0">
                <a:solidFill>
                  <a:srgbClr val="0F2023"/>
                </a:solidFill>
                <a:latin typeface="Aptos"/>
              </a:rPr>
              <a:t>Draft category/date fields. Human confirms.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93024" y="4617720"/>
            <a:ext cx="3154680" cy="120700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3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94192" y="4782312"/>
            <a:ext cx="27523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08B7A"/>
                </a:solidFill>
                <a:latin typeface="Aptos Display"/>
              </a:rPr>
              <a:t>Stock logic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5184648"/>
            <a:ext cx="275234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80" b="0">
                <a:solidFill>
                  <a:srgbClr val="0F2023"/>
                </a:solidFill>
                <a:latin typeface="Aptos"/>
              </a:rPr>
              <a:t>Publishing does not reduce stock. Reservation does.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65408" y="6446520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F6369"/>
                </a:solidFill>
                <a:latin typeface="Aptos"/>
              </a:rPr>
              <a:t>03 / 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502920"/>
            <a:ext cx="1371600" cy="384048"/>
          </a:xfrm>
          <a:prstGeom prst="roundRect">
            <a:avLst/>
          </a:prstGeom>
          <a:solidFill>
            <a:srgbClr val="DBEFEA"/>
          </a:solidFill>
          <a:ln w="12700">
            <a:solidFill>
              <a:srgbClr val="C3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18288" bIns="18288"/>
          <a:lstStyle/>
          <a:p>
            <a:pPr algn="ctr"/>
            <a:r>
              <a:rPr sz="1050" b="1">
                <a:solidFill>
                  <a:srgbClr val="005E53"/>
                </a:solidFill>
                <a:latin typeface="Aptos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15568"/>
            <a:ext cx="96012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023"/>
                </a:solidFill>
                <a:latin typeface="Aptos Display"/>
              </a:rPr>
              <a:t>This is already running.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1865376"/>
            <a:ext cx="104241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0">
                <a:solidFill>
                  <a:srgbClr val="4F6369"/>
                </a:solidFill>
                <a:latin typeface="Aptos"/>
              </a:rPr>
              <a:t>The deployed app uses Bay Area pantry seed data and inventory-backed transfer listings.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514600"/>
            <a:ext cx="2176272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3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46304" tIns="109728" bIns="73152"/>
          <a:lstStyle/>
          <a:p>
            <a:pPr algn="ctr"/>
            <a:r>
              <a:rPr sz="3100" b="1">
                <a:solidFill>
                  <a:srgbClr val="21608E"/>
                </a:solidFill>
                <a:latin typeface="Aptos Display"/>
              </a:rPr>
              <a:t>149</a:t>
            </a:r>
          </a:p>
          <a:p>
            <a:pPr>
              <a:spcBef>
                <a:spcPts val="200"/>
              </a:spcBef>
            </a:pPr>
            <a:r>
              <a:rPr sz="1350">
                <a:solidFill>
                  <a:srgbClr val="4F6369"/>
                </a:solidFill>
                <a:latin typeface="Aptos"/>
              </a:rPr>
              <a:t>inventory lots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01568" y="2514600"/>
            <a:ext cx="2176272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3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46304" tIns="109728" bIns="73152"/>
          <a:lstStyle/>
          <a:p>
            <a:pPr algn="ctr"/>
            <a:r>
              <a:rPr sz="3100" b="1">
                <a:solidFill>
                  <a:srgbClr val="21608E"/>
                </a:solidFill>
                <a:latin typeface="Aptos Display"/>
              </a:rPr>
              <a:t>73</a:t>
            </a:r>
          </a:p>
          <a:p>
            <a:pPr>
              <a:spcBef>
                <a:spcPts val="200"/>
              </a:spcBef>
            </a:pPr>
            <a:r>
              <a:rPr sz="1350">
                <a:solidFill>
                  <a:srgbClr val="4F6369"/>
                </a:solidFill>
                <a:latin typeface="Aptos"/>
              </a:rPr>
              <a:t>active listings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34456" y="2514600"/>
            <a:ext cx="2176272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3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46304" tIns="109728" bIns="73152"/>
          <a:lstStyle/>
          <a:p>
            <a:pPr algn="ctr"/>
            <a:r>
              <a:rPr sz="3100" b="1">
                <a:solidFill>
                  <a:srgbClr val="21608E"/>
                </a:solidFill>
                <a:latin typeface="Aptos Display"/>
              </a:rPr>
              <a:t>13</a:t>
            </a:r>
          </a:p>
          <a:p>
            <a:pPr>
              <a:spcBef>
                <a:spcPts val="200"/>
              </a:spcBef>
            </a:pPr>
            <a:r>
              <a:rPr sz="1350">
                <a:solidFill>
                  <a:srgbClr val="4F6369"/>
                </a:solidFill>
                <a:latin typeface="Aptos"/>
              </a:rPr>
              <a:t>pantry profiles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67344" y="2514600"/>
            <a:ext cx="2176272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3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46304" tIns="109728" bIns="73152"/>
          <a:lstStyle/>
          <a:p>
            <a:pPr algn="ctr"/>
            <a:r>
              <a:rPr sz="3100" b="1">
                <a:solidFill>
                  <a:srgbClr val="21608E"/>
                </a:solidFill>
                <a:latin typeface="Aptos Display"/>
              </a:rPr>
              <a:t>0</a:t>
            </a:r>
          </a:p>
          <a:p>
            <a:pPr>
              <a:spcBef>
                <a:spcPts val="200"/>
              </a:spcBef>
            </a:pPr>
            <a:r>
              <a:rPr sz="1350">
                <a:solidFill>
                  <a:srgbClr val="4F6369"/>
                </a:solidFill>
                <a:latin typeface="Aptos"/>
              </a:rPr>
              <a:t>payments required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4370832"/>
            <a:ext cx="5074920" cy="135331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3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46304"/>
          <a:lstStyle/>
          <a:p>
            <a:pPr algn="l"/>
            <a:r>
              <a:rPr sz="2100" b="1">
                <a:solidFill>
                  <a:srgbClr val="008B7A"/>
                </a:solidFill>
                <a:latin typeface="Aptos Display"/>
              </a:rPr>
              <a:t>Demo flow</a:t>
            </a:r>
          </a:p>
          <a:p>
            <a:pPr algn="l">
              <a:spcBef>
                <a:spcPts val="800"/>
              </a:spcBef>
            </a:pPr>
            <a:r>
              <a:rPr sz="2000" b="0">
                <a:solidFill>
                  <a:srgbClr val="0F2023"/>
                </a:solidFill>
                <a:latin typeface="Aptos"/>
              </a:rPr>
              <a:t>Receive item. Publish from Inventory. Request. Transfer. Audit.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4370832"/>
            <a:ext cx="5074920" cy="135331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3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46304"/>
          <a:lstStyle/>
          <a:p>
            <a:pPr algn="l"/>
            <a:r>
              <a:rPr sz="2100" b="1">
                <a:solidFill>
                  <a:srgbClr val="008B7A"/>
                </a:solidFill>
                <a:latin typeface="Aptos Display"/>
              </a:rPr>
              <a:t>Credibility check</a:t>
            </a:r>
          </a:p>
          <a:p>
            <a:pPr algn="l">
              <a:spcBef>
                <a:spcPts val="800"/>
              </a:spcBef>
            </a:pPr>
            <a:r>
              <a:rPr sz="2000" b="0">
                <a:solidFill>
                  <a:srgbClr val="0F2023"/>
                </a:solidFill>
                <a:latin typeface="Aptos"/>
              </a:rPr>
              <a:t>Listings are tied to inventory lot records, not separate fake rows.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446520"/>
            <a:ext cx="9692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F6369"/>
                </a:solidFill>
                <a:latin typeface="Aptos"/>
              </a:rPr>
              <a:t>Live demo counts queried from Supabase on July 17,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65408" y="6446520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F6369"/>
                </a:solidFill>
                <a:latin typeface="Aptos"/>
              </a:rPr>
              <a:t>04 / 05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502920"/>
            <a:ext cx="1371600" cy="384048"/>
          </a:xfrm>
          <a:prstGeom prst="roundRect">
            <a:avLst/>
          </a:prstGeom>
          <a:solidFill>
            <a:srgbClr val="DBEFEA"/>
          </a:solidFill>
          <a:ln w="12700">
            <a:solidFill>
              <a:srgbClr val="C3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50" b="1">
                <a:solidFill>
                  <a:srgbClr val="005E53"/>
                </a:solidFill>
                <a:latin typeface="Aptos"/>
              </a:rPr>
              <a:t>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15568"/>
            <a:ext cx="105156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0F2023"/>
                </a:solidFill>
                <a:latin typeface="Aptos Display"/>
              </a:rPr>
              <a:t>The efficiency claim is measurable.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1865376"/>
            <a:ext cx="104241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50" b="0">
                <a:solidFill>
                  <a:srgbClr val="4F6369"/>
                </a:solidFill>
                <a:latin typeface="Aptos"/>
              </a:rPr>
              <a:t>GoodCo should reduce mismatch when supply and need differ across pantries.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542032"/>
            <a:ext cx="3246120" cy="19385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3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2706624"/>
            <a:ext cx="28437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B54146"/>
                </a:solidFill>
                <a:latin typeface="Aptos Display"/>
              </a:rPr>
              <a:t>Today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3108960"/>
            <a:ext cx="2843784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80" b="0">
                <a:solidFill>
                  <a:srgbClr val="0F2023"/>
                </a:solidFill>
                <a:latin typeface="Aptos"/>
              </a:rPr>
              <a:t>Surplus stays local. Need is found late. The hub becomes the default coordinator.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62272" y="2542032"/>
            <a:ext cx="3246120" cy="19385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3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706624"/>
            <a:ext cx="28437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08B7A"/>
                </a:solidFill>
                <a:latin typeface="Aptos Display"/>
              </a:rPr>
              <a:t>With GoodCo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108960"/>
            <a:ext cx="2843784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80" b="0">
                <a:solidFill>
                  <a:srgbClr val="0F2023"/>
                </a:solidFill>
                <a:latin typeface="Aptos"/>
              </a:rPr>
              <a:t>Eligible surplus is visible. Requests reserve quantity. Transfers leave an audit trail.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3296" y="2542032"/>
            <a:ext cx="3246120" cy="19385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3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84464" y="2706624"/>
            <a:ext cx="28437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21608E"/>
                </a:solidFill>
                <a:latin typeface="Aptos Display"/>
              </a:rPr>
              <a:t>Pilot metrics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4464" y="3108960"/>
            <a:ext cx="2843784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20" b="0">
                <a:solidFill>
                  <a:srgbClr val="0F2023"/>
                </a:solidFill>
                <a:latin typeface="Aptos"/>
              </a:rPr>
              <a:t>Move-before-expiry rate. Request fill rate. Expired lots avoided. Hub interventions avoided.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5047488"/>
            <a:ext cx="2880360" cy="10607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3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5193792"/>
            <a:ext cx="255117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B54146"/>
                </a:solidFill>
                <a:latin typeface="Aptos Display"/>
              </a:rPr>
              <a:t>30-40%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5650992"/>
            <a:ext cx="25511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80" b="0">
                <a:solidFill>
                  <a:srgbClr val="4F6369"/>
                </a:solidFill>
                <a:latin typeface="Aptos"/>
              </a:rPr>
              <a:t>U.S. food supply wasted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45152" y="5047488"/>
            <a:ext cx="2880360" cy="10607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3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09744" y="5193792"/>
            <a:ext cx="255117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608E"/>
                </a:solidFill>
                <a:latin typeface="Aptos Display"/>
              </a:rPr>
              <a:t>10-25%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9744" y="5650992"/>
            <a:ext cx="25511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80" b="0">
                <a:solidFill>
                  <a:srgbClr val="4F6369"/>
                </a:solidFill>
                <a:latin typeface="Aptos"/>
              </a:rPr>
              <a:t>One lateral-sharing cost study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66175" y="5047488"/>
            <a:ext cx="2880360" cy="106070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3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0767" y="5193792"/>
            <a:ext cx="255117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8B7A"/>
                </a:solidFill>
                <a:latin typeface="Aptos Display"/>
              </a:rPr>
              <a:t>Pilot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0767" y="5650992"/>
            <a:ext cx="25511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80" b="0">
                <a:solidFill>
                  <a:srgbClr val="4F6369"/>
                </a:solidFill>
                <a:latin typeface="Aptos"/>
              </a:rPr>
              <a:t>GoodCo savings need pilot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446520"/>
            <a:ext cx="9692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F6369"/>
                </a:solidFill>
                <a:latin typeface="Aptos"/>
              </a:rPr>
              <a:t>Sources: USDA food waste FAQ; inventory-sharing literature. GoodCo impact is not yet pilot-measured.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65408" y="6446520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F6369"/>
                </a:solidFill>
                <a:latin typeface="Aptos"/>
              </a:rPr>
              <a:t>05 / 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