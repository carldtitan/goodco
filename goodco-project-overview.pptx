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92024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GOODCO PANTRY MESH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6858000" cy="6858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Aptos"/>
              </a:rPr>
              <a:t>Make the spokes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55648"/>
            <a:ext cx="566928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CBDEDA"/>
                </a:solidFill>
                <a:latin typeface="Aptos"/>
              </a:rPr>
              <a:t>A shared inventory + marketplace layer for Bay Area food pantries.</a:t>
            </a:r>
          </a:p>
        </p:txBody>
      </p:sp>
      <p:sp>
        <p:nvSpPr>
          <p:cNvPr id="5" name="Oval 4"/>
          <p:cNvSpPr/>
          <p:nvPr/>
        </p:nvSpPr>
        <p:spPr>
          <a:xfrm>
            <a:off x="7589520" y="914400"/>
            <a:ext cx="1078992" cy="1078992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Hub</a:t>
            </a:r>
          </a:p>
        </p:txBody>
      </p:sp>
      <p:sp>
        <p:nvSpPr>
          <p:cNvPr id="6" name="Oval 5"/>
          <p:cNvSpPr/>
          <p:nvPr/>
        </p:nvSpPr>
        <p:spPr>
          <a:xfrm>
            <a:off x="6400800" y="2926080"/>
            <a:ext cx="676656" cy="676656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F2227"/>
                </a:solidFill>
                <a:latin typeface="Aptos"/>
              </a:rPr>
              <a:t>SF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6739128" y="1783080"/>
            <a:ext cx="1380744" cy="1143000"/>
          </a:xfrm>
          <a:prstGeom prst="line">
            <a:avLst/>
          </a:prstGeom>
          <a:ln w="15240">
            <a:solidFill>
              <a:srgbClr val="5073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8778240" y="2743200"/>
            <a:ext cx="676656" cy="676656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F2227"/>
                </a:solidFill>
                <a:latin typeface="Aptos"/>
              </a:rPr>
              <a:t>Oak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119872" y="1783080"/>
            <a:ext cx="996695" cy="960120"/>
          </a:xfrm>
          <a:prstGeom prst="line">
            <a:avLst/>
          </a:prstGeom>
          <a:ln w="15240">
            <a:solidFill>
              <a:srgbClr val="5073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543800" y="4526280"/>
            <a:ext cx="676656" cy="676656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F2227"/>
                </a:solidFill>
                <a:latin typeface="Aptos"/>
              </a:rPr>
              <a:t>SJ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7882127" y="1783080"/>
            <a:ext cx="237745" cy="2743200"/>
          </a:xfrm>
          <a:prstGeom prst="line">
            <a:avLst/>
          </a:prstGeom>
          <a:ln w="15240">
            <a:solidFill>
              <a:srgbClr val="5073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9966960" y="4297680"/>
            <a:ext cx="676656" cy="676656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F2227"/>
                </a:solidFill>
                <a:latin typeface="Aptos"/>
              </a:rPr>
              <a:t>Marin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19872" y="1783080"/>
            <a:ext cx="2185416" cy="2514600"/>
          </a:xfrm>
          <a:prstGeom prst="line">
            <a:avLst/>
          </a:prstGeom>
          <a:ln w="15240">
            <a:solidFill>
              <a:srgbClr val="5073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669280" y="4572000"/>
            <a:ext cx="676656" cy="676656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F2227"/>
                </a:solidFill>
                <a:latin typeface="Aptos"/>
              </a:rPr>
              <a:t>East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07608" y="1783080"/>
            <a:ext cx="2112264" cy="2788920"/>
          </a:xfrm>
          <a:prstGeom prst="line">
            <a:avLst/>
          </a:prstGeom>
          <a:ln w="15240">
            <a:solidFill>
              <a:srgbClr val="5073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086600" y="3081528"/>
            <a:ext cx="1691640" cy="192024"/>
          </a:xfrm>
          <a:prstGeom prst="line">
            <a:avLst/>
          </a:prstGeom>
          <a:ln w="35560">
            <a:solidFill>
              <a:srgbClr val="F6B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7955279" y="3401568"/>
            <a:ext cx="1143001" cy="1197864"/>
          </a:xfrm>
          <a:prstGeom prst="line">
            <a:avLst/>
          </a:prstGeom>
          <a:ln w="35560">
            <a:solidFill>
              <a:srgbClr val="F6B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400800" y="4754880"/>
            <a:ext cx="1143000" cy="18288"/>
          </a:xfrm>
          <a:prstGeom prst="line">
            <a:avLst/>
          </a:prstGeom>
          <a:ln w="35560">
            <a:solidFill>
              <a:srgbClr val="F6B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5800" y="4315968"/>
            <a:ext cx="19202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4462272"/>
            <a:ext cx="159105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F6B74A"/>
                </a:solidFill>
                <a:latin typeface="Aptos"/>
              </a:rPr>
              <a:t>73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4846320"/>
            <a:ext cx="162763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live active listings in demo DB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8920" y="4315968"/>
            <a:ext cx="19202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53512" y="4462272"/>
            <a:ext cx="159105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F6B74A"/>
                </a:solidFill>
                <a:latin typeface="Aptos"/>
              </a:rPr>
              <a:t>149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846320"/>
            <a:ext cx="162763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inventory lots tracked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92040" y="4315968"/>
            <a:ext cx="19202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56631" y="4462272"/>
            <a:ext cx="159105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F6B74A"/>
                </a:solidFill>
                <a:latin typeface="Aptos"/>
              </a:rPr>
              <a:t>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6631" y="4846320"/>
            <a:ext cx="162763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Bay Area pantry profiles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788152"/>
            <a:ext cx="676656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200" b="0">
                <a:solidFill>
                  <a:srgbClr val="CBDEDA"/>
                </a:solidFill>
                <a:latin typeface="Aptos"/>
              </a:rPr>
              <a:t>The hub stays important. The missing layer is lateral visibility between pantries.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8016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SYSTEM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768096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700" b="1">
                <a:solidFill>
                  <a:srgbClr val="121F23"/>
                </a:solidFill>
                <a:latin typeface="Aptos"/>
              </a:rPr>
              <a:t>The Bay Area food system is already a network.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713232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50" b="0">
                <a:solidFill>
                  <a:srgbClr val="5C6C72"/>
                </a:solidFill>
                <a:latin typeface="Aptos"/>
              </a:rPr>
              <a:t>The problem is not lack of nodes. It is lack of shared, trusted pantry-level inventory signals.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2240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12264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00897B"/>
                </a:solidFill>
                <a:latin typeface="Aptos"/>
              </a:rPr>
              <a:t>200+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2"/>
            <a:ext cx="194767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Feeding America food banks nationally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965960"/>
            <a:ext cx="2240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0712" y="2112264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00897B"/>
                </a:solidFill>
                <a:latin typeface="Aptos"/>
              </a:rPr>
              <a:t>60k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496312"/>
            <a:ext cx="194767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food pantries and meal programs nationally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965960"/>
            <a:ext cx="2240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25312" y="2112264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00897B"/>
                </a:solidFill>
                <a:latin typeface="Aptos"/>
              </a:rPr>
              <a:t>260+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5312" y="2496312"/>
            <a:ext cx="194767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SF-Marin community partners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965960"/>
            <a:ext cx="2240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2112264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00897B"/>
                </a:solidFill>
                <a:latin typeface="Aptos"/>
              </a:rPr>
              <a:t>350+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2" y="2496312"/>
            <a:ext cx="194767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Alameda County partner agencies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37560"/>
            <a:ext cx="2240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483864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266FA7"/>
                </a:solidFill>
                <a:latin typeface="Aptos"/>
              </a:rPr>
              <a:t>900+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867911"/>
            <a:ext cx="194767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Second Harvest Silicon Valley sites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3337560"/>
            <a:ext cx="2240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0712" y="3483864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266FA7"/>
                </a:solidFill>
                <a:latin typeface="Aptos"/>
              </a:rPr>
              <a:t>11M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0712" y="3867911"/>
            <a:ext cx="194767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lbs/month distributed by Second Harvest SV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3337560"/>
            <a:ext cx="2240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25312" y="3483864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C74D4D"/>
                </a:solidFill>
                <a:latin typeface="Aptos"/>
              </a:rPr>
              <a:t>30-40%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5312" y="3867911"/>
            <a:ext cx="194767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U.S. food supply estimated wasted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20" y="3337560"/>
            <a:ext cx="2240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912" y="3483864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266FA7"/>
                </a:solidFill>
                <a:latin typeface="Aptos"/>
              </a:rPr>
              <a:t>44k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9912" y="3867911"/>
            <a:ext cx="194767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households/week served by SF-Marin FY25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193792"/>
            <a:ext cx="9784080" cy="47548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1">
                <a:solidFill>
                  <a:srgbClr val="121F23"/>
                </a:solidFill>
                <a:latin typeface="Aptos"/>
              </a:rPr>
              <a:t>Inference: when hundreds of sites hold different surplus, shortages, hours, storage, and demand signals, the network cannot rely only on hub-to-spoke visibility.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02 / 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46520"/>
            <a:ext cx="78638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650" b="0">
                <a:solidFill>
                  <a:srgbClr val="5C6C72"/>
                </a:solidFill>
                <a:latin typeface="Aptos"/>
              </a:rPr>
              <a:t>Sources: Feeding America; USDA; SF-Marin Food Bank FY25; ACCFB; Second Harvest Silicon Valley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8016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768096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700" b="1">
                <a:solidFill>
                  <a:srgbClr val="121F23"/>
                </a:solidFill>
                <a:latin typeface="Aptos"/>
              </a:rPr>
              <a:t>Hub-and-spoke works for bulk distribution. It breaks at the edge.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713232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50" b="0">
                <a:solidFill>
                  <a:srgbClr val="5C6C72"/>
                </a:solidFill>
                <a:latin typeface="Aptos"/>
              </a:rPr>
              <a:t>The hub can move pallets. The spokes see shelf-level reality: what is expiring, what is missing, and what can move today.</a:t>
            </a:r>
          </a:p>
        </p:txBody>
      </p:sp>
      <p:sp>
        <p:nvSpPr>
          <p:cNvPr id="5" name="Oval 4"/>
          <p:cNvSpPr/>
          <p:nvPr/>
        </p:nvSpPr>
        <p:spPr>
          <a:xfrm>
            <a:off x="1051560" y="2880360"/>
            <a:ext cx="1234440" cy="1234440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Food
Bank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63040"/>
            <a:ext cx="1874519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1627632"/>
            <a:ext cx="1554480" cy="42062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21F23"/>
                </a:solidFill>
                <a:latin typeface="Aptos"/>
              </a:rPr>
              <a:t>Pantry A
Surplus milk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331720" y="1883664"/>
            <a:ext cx="1508760" cy="1572768"/>
          </a:xfrm>
          <a:prstGeom prst="line">
            <a:avLst/>
          </a:prstGeom>
          <a:ln w="1778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035040" y="2788920"/>
            <a:ext cx="1874519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1" y="2953512"/>
            <a:ext cx="1554480" cy="42062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21F23"/>
                </a:solidFill>
                <a:latin typeface="Aptos"/>
              </a:rPr>
              <a:t>Pantry B
Needs dairy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331720" y="3209544"/>
            <a:ext cx="3703320" cy="246888"/>
          </a:xfrm>
          <a:prstGeom prst="line">
            <a:avLst/>
          </a:prstGeom>
          <a:ln w="1778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40480" y="4480560"/>
            <a:ext cx="1874519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05072" y="4645152"/>
            <a:ext cx="1554480" cy="42062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21F23"/>
                </a:solidFill>
                <a:latin typeface="Aptos"/>
              </a:rPr>
              <a:t>Pantry C
Expiring produce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31720" y="3456432"/>
            <a:ext cx="1508760" cy="1444752"/>
          </a:xfrm>
          <a:prstGeom prst="line">
            <a:avLst/>
          </a:prstGeom>
          <a:ln w="1778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1691640"/>
            <a:ext cx="1874519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856232"/>
            <a:ext cx="1554480" cy="42062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21F23"/>
                </a:solidFill>
                <a:latin typeface="Aptos"/>
              </a:rPr>
              <a:t>Pantry D
Frozen capacity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112264"/>
            <a:ext cx="5897880" cy="1344168"/>
          </a:xfrm>
          <a:prstGeom prst="line">
            <a:avLst/>
          </a:prstGeom>
          <a:ln w="1778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0" y="4160520"/>
            <a:ext cx="1874519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325112"/>
            <a:ext cx="1554480" cy="42062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21F23"/>
                </a:solidFill>
                <a:latin typeface="Aptos"/>
              </a:rPr>
              <a:t>Pantry E
No freezer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31720" y="3456432"/>
            <a:ext cx="5897880" cy="1124712"/>
          </a:xfrm>
          <a:prstGeom prst="line">
            <a:avLst/>
          </a:prstGeom>
          <a:ln w="1778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800600" y="2304288"/>
            <a:ext cx="1234440" cy="768096"/>
          </a:xfrm>
          <a:prstGeom prst="line">
            <a:avLst/>
          </a:prstGeom>
          <a:ln w="29209">
            <a:solidFill>
              <a:srgbClr val="C7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800600" y="4498848"/>
            <a:ext cx="3429000" cy="137160"/>
          </a:xfrm>
          <a:prstGeom prst="line">
            <a:avLst/>
          </a:prstGeom>
          <a:ln w="29209">
            <a:solidFill>
              <a:srgbClr val="C7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257800" y="5193792"/>
            <a:ext cx="292608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600" b="1">
                <a:solidFill>
                  <a:srgbClr val="C74D4D"/>
                </a:solidFill>
                <a:latin typeface="Aptos"/>
              </a:rPr>
              <a:t>Missing lateral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7492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30">
                <a:solidFill>
                  <a:srgbClr val="121F23"/>
                </a:solidFill>
                <a:latin typeface="Aptos"/>
              </a:defRPr>
            </a:pPr>
            <a:r>
              <a:t>Surplus stays local and invisible</a:t>
            </a:r>
          </a:p>
          <a:p>
            <a:pPr>
              <a:spcAft>
                <a:spcPts val="400"/>
              </a:spcAft>
              <a:defRPr sz="1130">
                <a:solidFill>
                  <a:srgbClr val="121F23"/>
                </a:solidFill>
                <a:latin typeface="Aptos"/>
              </a:defRPr>
            </a:pPr>
            <a:r>
              <a:t>Need is discovered by phone, text, or too late</a:t>
            </a:r>
          </a:p>
          <a:p>
            <a:pPr>
              <a:spcAft>
                <a:spcPts val="400"/>
              </a:spcAft>
              <a:defRPr sz="1130">
                <a:solidFill>
                  <a:srgbClr val="121F23"/>
                </a:solidFill>
                <a:latin typeface="Aptos"/>
              </a:defRPr>
            </a:pPr>
            <a:r>
              <a:t>The hub becomes the only coordination path</a:t>
            </a:r>
          </a:p>
          <a:p>
            <a:pPr>
              <a:spcAft>
                <a:spcPts val="400"/>
              </a:spcAft>
              <a:defRPr sz="1130">
                <a:solidFill>
                  <a:srgbClr val="121F23"/>
                </a:solidFill>
                <a:latin typeface="Aptos"/>
              </a:defRPr>
            </a:pPr>
            <a:r>
              <a:t>Perishable food loses time while people still need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8016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CORE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768096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700" b="1">
                <a:solidFill>
                  <a:srgbClr val="121F23"/>
                </a:solidFill>
                <a:latin typeface="Aptos"/>
              </a:rPr>
              <a:t>The thesis: make hub-and-spoke a mesh.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713232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50" b="0">
                <a:solidFill>
                  <a:srgbClr val="5C6C72"/>
                </a:solidFill>
                <a:latin typeface="Aptos"/>
              </a:rPr>
              <a:t>GoodCo keeps the hub. It adds a shared layer where spokes can expose eligible surplus and request it from each other.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47548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48840"/>
            <a:ext cx="402336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121F23"/>
                </a:solidFill>
                <a:latin typeface="Aptos"/>
              </a:rPr>
              <a:t>Before: hub-only coordination</a:t>
            </a:r>
          </a:p>
        </p:txBody>
      </p:sp>
      <p:sp>
        <p:nvSpPr>
          <p:cNvPr id="7" name="Oval 6"/>
          <p:cNvSpPr/>
          <p:nvPr/>
        </p:nvSpPr>
        <p:spPr>
          <a:xfrm>
            <a:off x="2788920" y="2788920"/>
            <a:ext cx="749808" cy="749808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Hub</a:t>
            </a:r>
          </a:p>
        </p:txBody>
      </p:sp>
      <p:sp>
        <p:nvSpPr>
          <p:cNvPr id="8" name="Oval 7"/>
          <p:cNvSpPr/>
          <p:nvPr/>
        </p:nvSpPr>
        <p:spPr>
          <a:xfrm>
            <a:off x="1417320" y="4160520"/>
            <a:ext cx="502920" cy="502920"/>
          </a:xfrm>
          <a:prstGeom prst="ellipse">
            <a:avLst/>
          </a:prstGeom>
          <a:solidFill>
            <a:srgbClr val="E8F3EE"/>
          </a:solidFill>
          <a:ln>
            <a:solidFill>
              <a:srgbClr val="E8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21F23"/>
                </a:solidFill>
                <a:latin typeface="Aptos"/>
              </a:rPr>
              <a:t>A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664208" y="3493008"/>
            <a:ext cx="1499616" cy="667512"/>
          </a:xfrm>
          <a:prstGeom prst="line">
            <a:avLst/>
          </a:prstGeom>
          <a:ln w="1524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788920" y="4343400"/>
            <a:ext cx="502920" cy="502920"/>
          </a:xfrm>
          <a:prstGeom prst="ellipse">
            <a:avLst/>
          </a:prstGeom>
          <a:solidFill>
            <a:srgbClr val="E8F3EE"/>
          </a:solidFill>
          <a:ln>
            <a:solidFill>
              <a:srgbClr val="E8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21F23"/>
                </a:solidFill>
                <a:latin typeface="Aptos"/>
              </a:rPr>
              <a:t>B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035808" y="3493008"/>
            <a:ext cx="128016" cy="850392"/>
          </a:xfrm>
          <a:prstGeom prst="line">
            <a:avLst/>
          </a:prstGeom>
          <a:ln w="1524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160520" y="4160520"/>
            <a:ext cx="502920" cy="502920"/>
          </a:xfrm>
          <a:prstGeom prst="ellipse">
            <a:avLst/>
          </a:prstGeom>
          <a:solidFill>
            <a:srgbClr val="E8F3EE"/>
          </a:solidFill>
          <a:ln>
            <a:solidFill>
              <a:srgbClr val="E8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21F23"/>
                </a:solidFill>
                <a:latin typeface="Aptos"/>
              </a:rPr>
              <a:t>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63824" y="3493008"/>
            <a:ext cx="1243584" cy="667512"/>
          </a:xfrm>
          <a:prstGeom prst="line">
            <a:avLst/>
          </a:prstGeom>
          <a:ln w="1524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51560" y="4681728"/>
            <a:ext cx="38404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5C6C72"/>
                </a:solidFill>
                <a:latin typeface="Aptos"/>
              </a:rPr>
              <a:t>Every exception climbs back up to the hub.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1874519"/>
            <a:ext cx="47548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148840"/>
            <a:ext cx="402336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121F23"/>
                </a:solidFill>
                <a:latin typeface="Aptos"/>
              </a:rPr>
              <a:t>After: lateral inventory visibility</a:t>
            </a:r>
          </a:p>
        </p:txBody>
      </p:sp>
      <p:sp>
        <p:nvSpPr>
          <p:cNvPr id="17" name="Oval 16"/>
          <p:cNvSpPr/>
          <p:nvPr/>
        </p:nvSpPr>
        <p:spPr>
          <a:xfrm>
            <a:off x="8458200" y="2788920"/>
            <a:ext cx="749808" cy="749808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Hub</a:t>
            </a:r>
          </a:p>
        </p:txBody>
      </p:sp>
      <p:sp>
        <p:nvSpPr>
          <p:cNvPr id="18" name="Oval 17"/>
          <p:cNvSpPr/>
          <p:nvPr/>
        </p:nvSpPr>
        <p:spPr>
          <a:xfrm>
            <a:off x="7086600" y="4160520"/>
            <a:ext cx="502920" cy="502920"/>
          </a:xfrm>
          <a:prstGeom prst="ellipse">
            <a:avLst/>
          </a:prstGeom>
          <a:solidFill>
            <a:srgbClr val="E8F3EE"/>
          </a:solidFill>
          <a:ln>
            <a:solidFill>
              <a:srgbClr val="E8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21F23"/>
                </a:solidFill>
                <a:latin typeface="Aptos"/>
              </a:rPr>
              <a:t>A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333488" y="3493008"/>
            <a:ext cx="1499616" cy="667512"/>
          </a:xfrm>
          <a:prstGeom prst="line">
            <a:avLst/>
          </a:prstGeom>
          <a:ln w="1524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458200" y="4343400"/>
            <a:ext cx="502920" cy="502920"/>
          </a:xfrm>
          <a:prstGeom prst="ellipse">
            <a:avLst/>
          </a:prstGeom>
          <a:solidFill>
            <a:srgbClr val="E8F3EE"/>
          </a:solidFill>
          <a:ln>
            <a:solidFill>
              <a:srgbClr val="E8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21F23"/>
                </a:solidFill>
                <a:latin typeface="Aptos"/>
              </a:rPr>
              <a:t>B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8705088" y="3493008"/>
            <a:ext cx="128016" cy="850392"/>
          </a:xfrm>
          <a:prstGeom prst="line">
            <a:avLst/>
          </a:prstGeom>
          <a:ln w="1524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9829800" y="4160520"/>
            <a:ext cx="502920" cy="502920"/>
          </a:xfrm>
          <a:prstGeom prst="ellipse">
            <a:avLst/>
          </a:prstGeom>
          <a:solidFill>
            <a:srgbClr val="E8F3EE"/>
          </a:solidFill>
          <a:ln>
            <a:solidFill>
              <a:srgbClr val="E8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21F23"/>
                </a:solidFill>
                <a:latin typeface="Aptos"/>
              </a:rPr>
              <a:t>C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33104" y="3493008"/>
            <a:ext cx="1243584" cy="667512"/>
          </a:xfrm>
          <a:prstGeom prst="line">
            <a:avLst/>
          </a:prstGeom>
          <a:ln w="1524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360920" y="4407408"/>
            <a:ext cx="1097280" cy="182880"/>
          </a:xfrm>
          <a:prstGeom prst="line">
            <a:avLst/>
          </a:prstGeom>
          <a:ln w="29209">
            <a:solidFill>
              <a:srgbClr val="F6B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705088" y="4407408"/>
            <a:ext cx="1124712" cy="182880"/>
          </a:xfrm>
          <a:prstGeom prst="line">
            <a:avLst/>
          </a:prstGeom>
          <a:ln w="29209">
            <a:solidFill>
              <a:srgbClr val="F6B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720840" y="4681728"/>
            <a:ext cx="38404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5C6C72"/>
                </a:solidFill>
                <a:latin typeface="Aptos"/>
              </a:rPr>
              <a:t>Spokes can see, reserve, and transfer eligible food.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687568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121F23"/>
                </a:solidFill>
                <a:latin typeface="Aptos"/>
              </a:rPr>
              <a:t>One platform for all: same inventory contract, same policy gates, same audit trail.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8016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768096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700" b="1">
                <a:solidFill>
                  <a:srgbClr val="121F23"/>
                </a:solidFill>
                <a:latin typeface="Aptos"/>
              </a:rPr>
              <a:t>Why lateral flow should improve efficiency.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713232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50" b="0">
                <a:solidFill>
                  <a:srgbClr val="5C6C72"/>
                </a:solidFill>
                <a:latin typeface="Aptos"/>
              </a:rPr>
              <a:t>Operations research calls this inventory sharing or lateral transshipment: move stock between same-level nodes when demand and supply are uneven.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21408"/>
            <a:ext cx="274320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00897B"/>
                </a:solidFill>
                <a:latin typeface="Aptos"/>
              </a:rPr>
              <a:t>Inventory pooling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21F23"/>
                </a:solidFill>
                <a:latin typeface="Aptos"/>
              </a:defRPr>
            </a:pPr>
            <a:r>
              <a:t>Combines local surplus signals</a:t>
            </a:r>
          </a:p>
          <a:p>
            <a:pPr>
              <a:spcAft>
                <a:spcPts val="400"/>
              </a:spcAft>
              <a:defRPr sz="1100">
                <a:solidFill>
                  <a:srgbClr val="121F23"/>
                </a:solidFill>
                <a:latin typeface="Aptos"/>
              </a:defRPr>
            </a:pPr>
            <a:r>
              <a:t>Reduces mismatch between demand and supply</a:t>
            </a:r>
          </a:p>
          <a:p>
            <a:pPr>
              <a:spcAft>
                <a:spcPts val="400"/>
              </a:spcAft>
              <a:defRPr sz="1100">
                <a:solidFill>
                  <a:srgbClr val="121F23"/>
                </a:solidFill>
                <a:latin typeface="Aptos"/>
              </a:defRPr>
            </a:pPr>
            <a:r>
              <a:t>Improves service when demand is uncertain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21408"/>
            <a:ext cx="274320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00897B"/>
                </a:solidFill>
                <a:latin typeface="Aptos"/>
              </a:rPr>
              <a:t>Lateral transshipment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21F23"/>
                </a:solidFill>
                <a:latin typeface="Aptos"/>
              </a:defRPr>
            </a:pPr>
            <a:r>
              <a:t>Same-level sites can rebalance stock</a:t>
            </a:r>
          </a:p>
          <a:p>
            <a:pPr>
              <a:spcAft>
                <a:spcPts val="400"/>
              </a:spcAft>
              <a:defRPr sz="1100">
                <a:solidFill>
                  <a:srgbClr val="121F23"/>
                </a:solidFill>
                <a:latin typeface="Aptos"/>
              </a:defRPr>
            </a:pPr>
            <a:r>
              <a:t>Often reduces holding, shipping, and waiting costs</a:t>
            </a:r>
          </a:p>
          <a:p>
            <a:pPr>
              <a:spcAft>
                <a:spcPts val="400"/>
              </a:spcAft>
              <a:defRPr sz="1100">
                <a:solidFill>
                  <a:srgbClr val="121F23"/>
                </a:solidFill>
                <a:latin typeface="Aptos"/>
              </a:defRPr>
            </a:pPr>
            <a:r>
              <a:t>Useful when emergency restock is expensive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121408"/>
            <a:ext cx="274320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00897B"/>
                </a:solidFill>
                <a:latin typeface="Aptos"/>
              </a:rPr>
              <a:t>GoodCo 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6060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21F23"/>
                </a:solidFill>
                <a:latin typeface="Aptos"/>
              </a:defRPr>
            </a:pPr>
            <a:r>
              <a:t>Pantry lots become visible</a:t>
            </a:r>
          </a:p>
          <a:p>
            <a:pPr>
              <a:spcAft>
                <a:spcPts val="400"/>
              </a:spcAft>
              <a:defRPr sz="1100">
                <a:solidFill>
                  <a:srgbClr val="121F23"/>
                </a:solidFill>
                <a:latin typeface="Aptos"/>
              </a:defRPr>
            </a:pPr>
            <a:r>
              <a:t>Requests reserve before transfer</a:t>
            </a:r>
          </a:p>
          <a:p>
            <a:pPr>
              <a:spcAft>
                <a:spcPts val="400"/>
              </a:spcAft>
              <a:defRPr sz="1100">
                <a:solidFill>
                  <a:srgbClr val="121F23"/>
                </a:solidFill>
                <a:latin typeface="Aptos"/>
              </a:defRPr>
            </a:pPr>
            <a:r>
              <a:t>Audit trail prevents fake surplus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892040"/>
            <a:ext cx="2743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07592" y="5038344"/>
            <a:ext cx="241401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266FA7"/>
                </a:solidFill>
                <a:latin typeface="Aptos"/>
              </a:rPr>
              <a:t>10-25%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5422392"/>
            <a:ext cx="245059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inventory cost reduction in an MIT lateral-transshipment study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4892040"/>
            <a:ext cx="2743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3752" y="5038344"/>
            <a:ext cx="241401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C74D4D"/>
                </a:solidFill>
                <a:latin typeface="Aptos"/>
              </a:rPr>
              <a:t>Not claimed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5422392"/>
            <a:ext cx="245059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GoodCo has not measured savings yet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4892040"/>
            <a:ext cx="2743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5038344"/>
            <a:ext cx="241401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00897B"/>
                </a:solidFill>
                <a:latin typeface="Aptos"/>
              </a:rPr>
              <a:t>Measure next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5422392"/>
            <a:ext cx="2450592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moved-before-expiry, transfer time, avoided hub trips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05 / 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78638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650" b="0">
                <a:solidFill>
                  <a:srgbClr val="5C6C72"/>
                </a:solidFill>
                <a:latin typeface="Aptos"/>
              </a:rPr>
              <a:t>Sources: Operations research on inventory sharing/lateral transshipment; MIT inventory rebalancing study. Food-bank impact still needs pilot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8016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768096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700" b="1">
                <a:solidFill>
                  <a:srgbClr val="121F23"/>
                </a:solidFill>
                <a:latin typeface="Aptos"/>
              </a:rPr>
              <a:t>GoodCo turns pantry inventory into a shared resource layer.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713232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50" b="0">
                <a:solidFill>
                  <a:srgbClr val="5C6C72"/>
                </a:solidFill>
                <a:latin typeface="Aptos"/>
              </a:rPr>
              <a:t>The product is not a chatbot. It is a workflow and data contract for trusted lateral movement.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154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1" y="2194560"/>
            <a:ext cx="475488" cy="475488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167128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1">
                <a:solidFill>
                  <a:srgbClr val="121F23"/>
                </a:solidFill>
                <a:latin typeface="Aptos"/>
              </a:rPr>
              <a:t>Receive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496312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5C6C72"/>
                </a:solidFill>
                <a:latin typeface="Aptos"/>
              </a:rPr>
              <a:t>Scan, type, photo, or voice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22191" y="2496312"/>
            <a:ext cx="521209" cy="0"/>
          </a:xfrm>
          <a:prstGeom prst="line">
            <a:avLst/>
          </a:prstGeom>
          <a:ln w="1778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34840" y="1965960"/>
            <a:ext cx="3154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9432" y="2194560"/>
            <a:ext cx="475488" cy="475488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67128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1">
                <a:solidFill>
                  <a:srgbClr val="121F23"/>
                </a:solidFill>
                <a:latin typeface="Aptos"/>
              </a:rPr>
              <a:t>Confirm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496312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5C6C72"/>
                </a:solidFill>
                <a:latin typeface="Aptos"/>
              </a:rPr>
              <a:t>Human-reviewed lot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16952" y="2496312"/>
            <a:ext cx="521208" cy="0"/>
          </a:xfrm>
          <a:prstGeom prst="line">
            <a:avLst/>
          </a:prstGeom>
          <a:ln w="1778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1965960"/>
            <a:ext cx="3154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94192" y="2194560"/>
            <a:ext cx="475488" cy="475488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67128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1">
                <a:solidFill>
                  <a:srgbClr val="121F23"/>
                </a:solidFill>
                <a:latin typeface="Aptos"/>
              </a:rPr>
              <a:t>Publish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2496312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5C6C72"/>
                </a:solidFill>
                <a:latin typeface="Aptos"/>
              </a:rPr>
              <a:t>Only eligible surplus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20439"/>
            <a:ext cx="3154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1" y="3749039"/>
            <a:ext cx="475488" cy="475488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3721607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1">
                <a:solidFill>
                  <a:srgbClr val="121F23"/>
                </a:solidFill>
                <a:latin typeface="Aptos"/>
              </a:rPr>
              <a:t>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4050791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5C6C72"/>
                </a:solidFill>
                <a:latin typeface="Aptos"/>
              </a:rPr>
              <a:t>Another pantry claims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22191" y="4050791"/>
            <a:ext cx="521209" cy="0"/>
          </a:xfrm>
          <a:prstGeom prst="line">
            <a:avLst/>
          </a:prstGeom>
          <a:ln w="1778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34840" y="3520439"/>
            <a:ext cx="3154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99432" y="3749039"/>
            <a:ext cx="475488" cy="475488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721607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1">
                <a:solidFill>
                  <a:srgbClr val="121F23"/>
                </a:solidFill>
                <a:latin typeface="Aptos"/>
              </a:rPr>
              <a:t>Reserve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050791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5C6C72"/>
                </a:solidFill>
                <a:latin typeface="Aptos"/>
              </a:rPr>
              <a:t>Availability drops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16952" y="4050791"/>
            <a:ext cx="521208" cy="0"/>
          </a:xfrm>
          <a:prstGeom prst="line">
            <a:avLst/>
          </a:prstGeom>
          <a:ln w="17780">
            <a:solidFill>
              <a:srgbClr val="D4E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229600" y="3520439"/>
            <a:ext cx="3154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94192" y="3749039"/>
            <a:ext cx="475488" cy="475488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3721607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1">
                <a:solidFill>
                  <a:srgbClr val="121F23"/>
                </a:solidFill>
                <a:latin typeface="Aptos"/>
              </a:rPr>
              <a:t>Transfer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050791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5C6C72"/>
                </a:solidFill>
                <a:latin typeface="Aptos"/>
              </a:rPr>
              <a:t>Traceable handoff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559552"/>
            <a:ext cx="1042416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121F23"/>
                </a:solidFill>
                <a:latin typeface="Aptos"/>
              </a:rPr>
              <a:t>Policy gates: confirmed lot + redistributable + non-TEFAP + quantity available + storage compatibility.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8016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AI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768096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700" b="1">
                <a:solidFill>
                  <a:srgbClr val="121F23"/>
                </a:solidFill>
                <a:latin typeface="Aptos"/>
              </a:rPr>
              <a:t>Receiving is where inventory truth starts.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713232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50" b="0">
                <a:solidFill>
                  <a:srgbClr val="5C6C72"/>
                </a:solidFill>
                <a:latin typeface="Aptos"/>
              </a:rPr>
              <a:t>AI reduces typing; humans still confirm. That is the right safety boundary for food operations.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19656"/>
            <a:ext cx="6455664" cy="42611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e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47088"/>
            <a:ext cx="640080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847088"/>
            <a:ext cx="3977639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139696"/>
            <a:ext cx="329184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121F23"/>
                </a:solidFill>
                <a:latin typeface="Aptos"/>
              </a:rPr>
              <a:t>AI-assisted, not AI-owned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697480"/>
            <a:ext cx="3246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30">
                <a:solidFill>
                  <a:srgbClr val="121F23"/>
                </a:solidFill>
                <a:latin typeface="Aptos"/>
              </a:defRPr>
            </a:pPr>
            <a:r>
              <a:t>Barcode lookup: Open Food Facts, then USDA FoodData Central</a:t>
            </a:r>
          </a:p>
          <a:p>
            <a:pPr>
              <a:spcAft>
                <a:spcPts val="400"/>
              </a:spcAft>
              <a:defRPr sz="1130">
                <a:solidFill>
                  <a:srgbClr val="121F23"/>
                </a:solidFill>
                <a:latin typeface="Aptos"/>
              </a:defRPr>
            </a:pPr>
            <a:r>
              <a:t>OCR/photo and voice help capture package dates</a:t>
            </a:r>
          </a:p>
          <a:p>
            <a:pPr>
              <a:spcAft>
                <a:spcPts val="400"/>
              </a:spcAft>
              <a:defRPr sz="1130">
                <a:solidFill>
                  <a:srgbClr val="121F23"/>
                </a:solidFill>
                <a:latin typeface="Aptos"/>
              </a:defRPr>
            </a:pPr>
            <a:r>
              <a:t>Rules and correction memory handle common categories</a:t>
            </a:r>
          </a:p>
          <a:p>
            <a:pPr>
              <a:spcAft>
                <a:spcPts val="400"/>
              </a:spcAft>
              <a:defRPr sz="1130">
                <a:solidFill>
                  <a:srgbClr val="121F23"/>
                </a:solidFill>
                <a:latin typeface="Aptos"/>
              </a:defRPr>
            </a:pPr>
            <a:r>
              <a:t>Fireworks LLM is fallback for uncertain parsing</a:t>
            </a:r>
          </a:p>
          <a:p>
            <a:pPr>
              <a:spcAft>
                <a:spcPts val="400"/>
              </a:spcAft>
              <a:defRPr sz="1130">
                <a:solidFill>
                  <a:srgbClr val="121F23"/>
                </a:solidFill>
                <a:latin typeface="Aptos"/>
              </a:defRPr>
            </a:pPr>
            <a:r>
              <a:t>Human review before inventory is saved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07 /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46520"/>
            <a:ext cx="78638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650" b="0">
                <a:solidFill>
                  <a:srgbClr val="5C6C72"/>
                </a:solidFill>
                <a:latin typeface="Aptos"/>
              </a:rPr>
              <a:t>Sources: Open Food Facts API; USDA FoodData Central API; USDA FSIS product dating guidance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8016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LIVE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768096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700" b="1">
                <a:solidFill>
                  <a:srgbClr val="121F23"/>
                </a:solidFill>
                <a:latin typeface="Aptos"/>
              </a:rPr>
              <a:t>Inventory now has a direct path to publish.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713232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50" b="0">
                <a:solidFill>
                  <a:srgbClr val="5C6C72"/>
                </a:solidFill>
                <a:latin typeface="Aptos"/>
              </a:rPr>
              <a:t>The demo can start from an already inventoried item, not only from receiving.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01368"/>
            <a:ext cx="6455664" cy="42611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40080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828800"/>
            <a:ext cx="38862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103120"/>
            <a:ext cx="320040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700" b="1">
                <a:solidFill>
                  <a:srgbClr val="121F23"/>
                </a:solidFill>
                <a:latin typeface="Aptos"/>
              </a:rPr>
              <a:t>Current live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606040"/>
            <a:ext cx="15087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2" y="2752344"/>
            <a:ext cx="117957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00897B"/>
                </a:solidFill>
                <a:latin typeface="Aptos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2" y="3136392"/>
            <a:ext cx="1216151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pantry profiles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06040"/>
            <a:ext cx="15087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0072" y="2752344"/>
            <a:ext cx="117957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00897B"/>
                </a:solidFill>
                <a:latin typeface="Aptos"/>
              </a:rPr>
              <a:t>149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0072" y="3136392"/>
            <a:ext cx="1216151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inventory lots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3703320"/>
            <a:ext cx="15087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82712" y="3849624"/>
            <a:ext cx="117957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266FA7"/>
                </a:solidFill>
                <a:latin typeface="Aptos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82712" y="4233672"/>
            <a:ext cx="1216151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active listings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5480" y="3703320"/>
            <a:ext cx="15087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0072" y="3849624"/>
            <a:ext cx="1179576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300" b="1">
                <a:solidFill>
                  <a:srgbClr val="266FA7"/>
                </a:solidFill>
                <a:latin typeface="Aptos"/>
              </a:rP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72" y="4233672"/>
            <a:ext cx="1216151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60" b="0">
                <a:solidFill>
                  <a:srgbClr val="5C6C72"/>
                </a:solidFill>
                <a:latin typeface="Aptos"/>
              </a:rPr>
              <a:t>categories represented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965192"/>
            <a:ext cx="310896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200" b="1">
                <a:solidFill>
                  <a:srgbClr val="121F23"/>
                </a:solidFill>
                <a:latin typeface="Aptos"/>
              </a:rPr>
              <a:t>Tap Publish on an eligible lot -&gt; listing form opens with that lot selected.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08 /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46520"/>
            <a:ext cx="78638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650" b="0">
                <a:solidFill>
                  <a:srgbClr val="5C6C72"/>
                </a:solidFill>
                <a:latin typeface="Aptos"/>
              </a:rPr>
              <a:t>Live GoodCo demo DB counts, queried July 17,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8016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INVENTORY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768096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700" b="1">
                <a:solidFill>
                  <a:srgbClr val="121F23"/>
                </a:solidFill>
                <a:latin typeface="Aptos"/>
              </a:rPr>
              <a:t>Publishing does not reduce inventory. Claiming does.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713232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50" b="0">
                <a:solidFill>
                  <a:srgbClr val="5C6C72"/>
                </a:solidFill>
                <a:latin typeface="Aptos"/>
              </a:rPr>
              <a:t>This is the correct marketplace logic because a listing is only an offer until another pantry reserves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283464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1">
                <a:solidFill>
                  <a:srgbClr val="5C6C72"/>
                </a:solidFill>
                <a:latin typeface="Aptos"/>
              </a:rPr>
              <a:t>Event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874519"/>
            <a:ext cx="118872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1">
                <a:solidFill>
                  <a:srgbClr val="5C6C72"/>
                </a:solidFill>
                <a:latin typeface="Aptos"/>
              </a:rPr>
              <a:t>On hand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874519"/>
            <a:ext cx="118872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1">
                <a:solidFill>
                  <a:srgbClr val="5C6C72"/>
                </a:solidFill>
                <a:latin typeface="Aptos"/>
              </a:rPr>
              <a:t>Reserved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118872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1">
                <a:solidFill>
                  <a:srgbClr val="5C6C72"/>
                </a:solidFill>
                <a:latin typeface="Aptos"/>
              </a:rPr>
              <a:t>Available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874519"/>
            <a:ext cx="429768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1">
                <a:solidFill>
                  <a:srgbClr val="5C6C72"/>
                </a:solidFill>
                <a:latin typeface="Aptos"/>
              </a:rPr>
              <a:t>Why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77439"/>
            <a:ext cx="1069848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532887"/>
            <a:ext cx="272491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121F23"/>
                </a:solidFill>
                <a:latin typeface="Aptos"/>
              </a:rPr>
              <a:t>Receive 3 Kiwi Celsius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532887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2532887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2532887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2532887"/>
            <a:ext cx="418795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0">
                <a:solidFill>
                  <a:srgbClr val="121F23"/>
                </a:solidFill>
                <a:latin typeface="Aptos"/>
              </a:rPr>
              <a:t>Food is physically in pantry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54679"/>
            <a:ext cx="1069848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310127"/>
            <a:ext cx="272491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121F23"/>
                </a:solidFill>
                <a:latin typeface="Aptos"/>
              </a:rPr>
              <a:t>Publish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9312" y="3310127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3310127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3310127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3310127"/>
            <a:ext cx="418795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0">
                <a:solidFill>
                  <a:srgbClr val="121F23"/>
                </a:solidFill>
                <a:latin typeface="Aptos"/>
              </a:rPr>
              <a:t>Offer is visible, not claimed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31920"/>
            <a:ext cx="1069848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087368"/>
            <a:ext cx="272491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121F23"/>
                </a:solidFill>
                <a:latin typeface="Aptos"/>
              </a:rPr>
              <a:t>Another pantry requests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2" y="4087368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8032" y="4087368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16752" y="4087368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4087368"/>
            <a:ext cx="418795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0">
                <a:solidFill>
                  <a:srgbClr val="121F23"/>
                </a:solidFill>
                <a:latin typeface="Aptos"/>
              </a:rPr>
              <a:t>Reservation protects the item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709159"/>
            <a:ext cx="1069848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4864607"/>
            <a:ext cx="272491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121F23"/>
                </a:solidFill>
                <a:latin typeface="Aptos"/>
              </a:rPr>
              <a:t>Transfer 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9312" y="4864607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8032" y="4864607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6752" y="4864607"/>
            <a:ext cx="107899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1">
                <a:solidFill>
                  <a:srgbClr val="00897B"/>
                </a:solidFill>
                <a:latin typeface="Aptos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4864607"/>
            <a:ext cx="4187952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50" b="0">
                <a:solidFill>
                  <a:srgbClr val="121F23"/>
                </a:solidFill>
                <a:latin typeface="Aptos"/>
              </a:rPr>
              <a:t>Stock actually leaves pantry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04688"/>
            <a:ext cx="978408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500" b="1">
                <a:solidFill>
                  <a:srgbClr val="121F23"/>
                </a:solidFill>
                <a:latin typeface="Aptos"/>
              </a:rPr>
              <a:t>This prevents double-counting: marketplace availability changes at reserve time; physical inventory changes at transfer time.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8016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768096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700" b="1">
                <a:solidFill>
                  <a:srgbClr val="121F23"/>
                </a:solidFill>
                <a:latin typeface="Aptos"/>
              </a:rPr>
              <a:t>Impact metrics for the pilot.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713232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50" b="0">
                <a:solidFill>
                  <a:srgbClr val="5C6C72"/>
                </a:solidFill>
                <a:latin typeface="Aptos"/>
              </a:rPr>
              <a:t>The deck should not overclaim. These are the numbers GoodCo should measure once real pantry users are active.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4983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47088"/>
            <a:ext cx="2194560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220" b="1">
                <a:solidFill>
                  <a:srgbClr val="00897B"/>
                </a:solidFill>
                <a:latin typeface="Aptos"/>
              </a:rPr>
              <a:t>Receiving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856231"/>
            <a:ext cx="24231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19" b="0">
                <a:solidFill>
                  <a:srgbClr val="5C6C72"/>
                </a:solidFill>
                <a:latin typeface="Aptos"/>
              </a:rPr>
              <a:t>median minutes per 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4983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1" y="1847088"/>
            <a:ext cx="2194560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220" b="1">
                <a:solidFill>
                  <a:srgbClr val="00897B"/>
                </a:solidFill>
                <a:latin typeface="Aptos"/>
              </a:rPr>
              <a:t>Data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59" y="1856231"/>
            <a:ext cx="24231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19" b="0">
                <a:solidFill>
                  <a:srgbClr val="5C6C72"/>
                </a:solidFill>
                <a:latin typeface="Aptos"/>
              </a:rPr>
              <a:t>% lots with confirmed category + 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43200"/>
            <a:ext cx="4983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852928"/>
            <a:ext cx="2194560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220" b="1">
                <a:solidFill>
                  <a:srgbClr val="00897B"/>
                </a:solidFill>
                <a:latin typeface="Aptos"/>
              </a:rPr>
              <a:t>Surplus activation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862072"/>
            <a:ext cx="24231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19" b="0">
                <a:solidFill>
                  <a:srgbClr val="5C6C72"/>
                </a:solidFill>
                <a:latin typeface="Aptos"/>
              </a:rPr>
              <a:t>eligible lots published / eligible lots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743200"/>
            <a:ext cx="4983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1" y="2852928"/>
            <a:ext cx="2194560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220" b="1">
                <a:solidFill>
                  <a:srgbClr val="00897B"/>
                </a:solidFill>
                <a:latin typeface="Aptos"/>
              </a:rPr>
              <a:t>Lateral movement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2862072"/>
            <a:ext cx="24231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19" b="0">
                <a:solidFill>
                  <a:srgbClr val="5C6C72"/>
                </a:solidFill>
                <a:latin typeface="Aptos"/>
              </a:rPr>
              <a:t>units or pounds transferred before move-by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49039"/>
            <a:ext cx="4983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858768"/>
            <a:ext cx="2194560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220" b="1">
                <a:solidFill>
                  <a:srgbClr val="00897B"/>
                </a:solidFill>
                <a:latin typeface="Aptos"/>
              </a:rPr>
              <a:t>Service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867911"/>
            <a:ext cx="24231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19" b="0">
                <a:solidFill>
                  <a:srgbClr val="5C6C72"/>
                </a:solidFill>
                <a:latin typeface="Aptos"/>
              </a:rPr>
              <a:t>request fill rate and cancellation rate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49039"/>
            <a:ext cx="4983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3858768"/>
            <a:ext cx="2194560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220" b="1">
                <a:solidFill>
                  <a:srgbClr val="00897B"/>
                </a:solidFill>
                <a:latin typeface="Aptos"/>
              </a:rPr>
              <a:t>Waste avoidance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59" y="3867911"/>
            <a:ext cx="24231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19" b="0">
                <a:solidFill>
                  <a:srgbClr val="5C6C72"/>
                </a:solidFill>
                <a:latin typeface="Aptos"/>
              </a:rPr>
              <a:t>lots expiring before vs after pilot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754880"/>
            <a:ext cx="4983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4864608"/>
            <a:ext cx="2194560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220" b="1">
                <a:solidFill>
                  <a:srgbClr val="00897B"/>
                </a:solidFill>
                <a:latin typeface="Aptos"/>
              </a:rPr>
              <a:t>Hub relief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873752"/>
            <a:ext cx="24231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19" b="0">
                <a:solidFill>
                  <a:srgbClr val="5C6C72"/>
                </a:solidFill>
                <a:latin typeface="Aptos"/>
              </a:rPr>
              <a:t>requests solved without hub intervention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754880"/>
            <a:ext cx="4983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864608"/>
            <a:ext cx="2194560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220" b="1">
                <a:solidFill>
                  <a:srgbClr val="00897B"/>
                </a:solidFill>
                <a:latin typeface="Aptos"/>
              </a:rPr>
              <a:t>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59" y="4873752"/>
            <a:ext cx="24231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19" b="0">
                <a:solidFill>
                  <a:srgbClr val="5C6C72"/>
                </a:solidFill>
                <a:latin typeface="Aptos"/>
              </a:rPr>
              <a:t>audit completeness per transfer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121F23"/>
                </a:solidFill>
                <a:latin typeface="Aptos"/>
              </a:rPr>
              <a:t>The claim to judges: GoodCo creates the data layer that makes these metrics measurable across pantries.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80160" cy="292608"/>
          </a:xfrm>
          <a:prstGeom prst="roundRect">
            <a:avLst/>
          </a:prstGeom>
          <a:solidFill>
            <a:srgbClr val="E8F3EE"/>
          </a:solidFill>
          <a:ln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B52"/>
                </a:solidFill>
                <a:latin typeface="Aptos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768096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700" b="1">
                <a:solidFill>
                  <a:srgbClr val="121F23"/>
                </a:solidFill>
                <a:latin typeface="Aptos"/>
              </a:rPr>
              <a:t>Sources and honest boundaries.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713232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50" b="0">
                <a:solidFill>
                  <a:srgbClr val="5C6C72"/>
                </a:solidFill>
                <a:latin typeface="Aptos"/>
              </a:rPr>
              <a:t>What is sourced, what is demo data, and what still needs a pilot.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93392"/>
            <a:ext cx="27432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1">
                <a:solidFill>
                  <a:srgbClr val="00897B"/>
                </a:solidFill>
                <a:latin typeface="Aptos"/>
              </a:rPr>
              <a:t>System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2697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Feeding America: 200+ food banks, 60k partner pantries/programs</a:t>
            </a:r>
          </a:p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USDA: 30-40% of U.S. food supply wasted</a:t>
            </a:r>
          </a:p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SF-Marin FY25: 260+ community partners, 44k households/week</a:t>
            </a:r>
          </a:p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ACCFB: 350+ partner agencies</a:t>
            </a:r>
          </a:p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Second Harvest SV: nearly 400 partners, 900+ sites, 11M lbs/month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93392"/>
            <a:ext cx="27432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1">
                <a:solidFill>
                  <a:srgbClr val="00897B"/>
                </a:solidFill>
                <a:latin typeface="Aptos"/>
              </a:rPr>
              <a:t>Efficiency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423160"/>
            <a:ext cx="2697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Inventory sharing/lateral transshipment literature: often lowers holding, shipping, and waiting costs</a:t>
            </a:r>
          </a:p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MIT inventory rebalancing study: 10-25% cost reduction in studied setting</a:t>
            </a:r>
          </a:p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GoodCo does not claim food-bank savings until a pantry pilot measures 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73736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993392"/>
            <a:ext cx="27432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1">
                <a:solidFill>
                  <a:srgbClr val="00897B"/>
                </a:solidFill>
                <a:latin typeface="Aptos"/>
              </a:rPr>
              <a:t>Demo boundaries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23160"/>
            <a:ext cx="2697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Live data is demo-seeded, not partner-submitted</a:t>
            </a:r>
          </a:p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Pantry names are public references, not endorsements</a:t>
            </a:r>
          </a:p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No payments in MVP</a:t>
            </a:r>
          </a:p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AI drafts categories/dates; humans confirm</a:t>
            </a:r>
          </a:p>
          <a:p>
            <a:pPr>
              <a:spcAft>
                <a:spcPts val="400"/>
              </a:spcAft>
              <a:defRPr sz="950">
                <a:solidFill>
                  <a:srgbClr val="121F23"/>
                </a:solidFill>
                <a:latin typeface="Aptos"/>
              </a:defRPr>
            </a:pPr>
            <a:r>
              <a:t>The marketplace lists only inventory-backed 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4652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80" b="0">
                <a:solidFill>
                  <a:srgbClr val="5C6C72"/>
                </a:solidFill>
                <a:latin typeface="Aptos"/>
              </a:rPr>
              <a:t>11 /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46520"/>
            <a:ext cx="78638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650" b="0">
                <a:solidFill>
                  <a:srgbClr val="5C6C72"/>
                </a:solidFill>
                <a:latin typeface="Aptos"/>
              </a:rPr>
              <a:t>Primary links are in research/goodco-product-impact.md plus sources cited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